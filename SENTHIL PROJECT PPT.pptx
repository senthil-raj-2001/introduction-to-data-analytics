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99" r:id="rId7"/>
    <p:sldId id="300" r:id="rId8"/>
    <p:sldId id="263" r:id="rId9"/>
    <p:sldId id="294" r:id="rId10"/>
    <p:sldId id="295" r:id="rId11"/>
    <p:sldId id="296" r:id="rId12"/>
    <p:sldId id="297" r:id="rId13"/>
    <p:sldId id="261" r:id="rId14"/>
    <p:sldId id="264" r:id="rId15"/>
    <p:sldId id="265" r:id="rId16"/>
    <p:sldId id="266" r:id="rId17"/>
    <p:sldId id="267" r:id="rId18"/>
    <p:sldId id="271" r:id="rId19"/>
    <p:sldId id="298" r:id="rId20"/>
    <p:sldId id="268" r:id="rId21"/>
    <p:sldId id="269" r:id="rId22"/>
    <p:sldId id="273" r:id="rId23"/>
    <p:sldId id="270" r:id="rId24"/>
    <p:sldId id="274" r:id="rId25"/>
    <p:sldId id="275" r:id="rId26"/>
    <p:sldId id="276" r:id="rId27"/>
    <p:sldId id="277" r:id="rId28"/>
    <p:sldId id="278" r:id="rId29"/>
    <p:sldId id="279" r:id="rId30"/>
    <p:sldId id="281" r:id="rId31"/>
    <p:sldId id="280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038" autoAdjust="0"/>
  </p:normalViewPr>
  <p:slideViewPr>
    <p:cSldViewPr snapToGrid="0">
      <p:cViewPr varScale="1">
        <p:scale>
          <a:sx n="62" d="100"/>
          <a:sy n="62" d="100"/>
        </p:scale>
        <p:origin x="15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46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2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2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4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72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11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3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83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9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0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2293D-2E3E-47F9-B614-8F5CDD8037EF}" type="datetimeFigureOut">
              <a:rPr lang="en-US" smtClean="0"/>
              <a:t>12/29/2023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0501F-1334-49E8-A870-E9100BD8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7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EBF0-1375-9F0C-B724-195A28873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933" y="268573"/>
            <a:ext cx="7342497" cy="1191737"/>
          </a:xfrm>
        </p:spPr>
        <p:txBody>
          <a:bodyPr>
            <a:noAutofit/>
          </a:bodyPr>
          <a:lstStyle/>
          <a:p>
            <a:r>
              <a:rPr lang="en-US" sz="2000" b="1" spc="-4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VALIDATION OF ROBUST RP-HPLC METHOD FOR QUANTITATIVE ANALYSIS OF TEPOTINIB IN PHARMACEUTICAL FORMULATIONS: A QUALITY BY DESIGN APPROACH</a:t>
            </a: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0D4B0-74EE-60DA-74DA-14CB371B2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934" y="1460311"/>
            <a:ext cx="6991066" cy="2565779"/>
          </a:xfrm>
        </p:spPr>
        <p:txBody>
          <a:bodyPr/>
          <a:lstStyle/>
          <a:p>
            <a:pPr marL="269240" algn="ctr">
              <a:lnSpc>
                <a:spcPct val="100000"/>
              </a:lnSpc>
              <a:spcBef>
                <a:spcPts val="68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Dissertation</a:t>
            </a:r>
            <a:r>
              <a:rPr lang="en-US"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</a:p>
          <a:p>
            <a:pPr marL="269240" algn="ctr">
              <a:lnSpc>
                <a:spcPct val="100000"/>
              </a:lnSpc>
              <a:spcBef>
                <a:spcPts val="575"/>
              </a:spcBef>
            </a:pPr>
            <a:r>
              <a:rPr lang="en-US" sz="1800" b="1" dirty="0">
                <a:latin typeface="Times New Roman"/>
                <a:cs typeface="Times New Roman"/>
              </a:rPr>
              <a:t>THE</a:t>
            </a:r>
            <a:r>
              <a:rPr lang="en-US" sz="1800" b="1" spc="-20" dirty="0">
                <a:latin typeface="Times New Roman"/>
                <a:cs typeface="Times New Roman"/>
              </a:rPr>
              <a:t> </a:t>
            </a:r>
            <a:r>
              <a:rPr lang="en-US" sz="1800" b="1" spc="-145" dirty="0">
                <a:latin typeface="Times New Roman"/>
                <a:cs typeface="Times New Roman"/>
              </a:rPr>
              <a:t>T</a:t>
            </a:r>
            <a:r>
              <a:rPr lang="en-US" sz="1800" b="1" spc="-5" dirty="0">
                <a:latin typeface="Times New Roman"/>
                <a:cs typeface="Times New Roman"/>
              </a:rPr>
              <a:t>A</a:t>
            </a:r>
            <a:r>
              <a:rPr lang="en-US" sz="1800" b="1" spc="20" dirty="0">
                <a:latin typeface="Times New Roman"/>
                <a:cs typeface="Times New Roman"/>
              </a:rPr>
              <a:t>M</a:t>
            </a:r>
            <a:r>
              <a:rPr lang="en-US" sz="1800" b="1" spc="-5" dirty="0">
                <a:latin typeface="Times New Roman"/>
                <a:cs typeface="Times New Roman"/>
              </a:rPr>
              <a:t>IL</a:t>
            </a:r>
            <a:r>
              <a:rPr lang="en-US" sz="1800" b="1" spc="-120" dirty="0">
                <a:latin typeface="Times New Roman"/>
                <a:cs typeface="Times New Roman"/>
              </a:rPr>
              <a:t> </a:t>
            </a:r>
            <a:r>
              <a:rPr lang="en-US" sz="1800" b="1" spc="-5" dirty="0">
                <a:latin typeface="Times New Roman"/>
                <a:cs typeface="Times New Roman"/>
              </a:rPr>
              <a:t>NADU</a:t>
            </a:r>
            <a:r>
              <a:rPr lang="en-US" sz="1800" b="1" dirty="0">
                <a:latin typeface="Times New Roman"/>
                <a:cs typeface="Times New Roman"/>
              </a:rPr>
              <a:t> </a:t>
            </a:r>
            <a:r>
              <a:rPr lang="en-US" sz="1800" b="1" spc="-5" dirty="0">
                <a:latin typeface="Times New Roman"/>
                <a:cs typeface="Times New Roman"/>
              </a:rPr>
              <a:t>DR.</a:t>
            </a:r>
            <a:r>
              <a:rPr lang="en-US" sz="1800" b="1" spc="5" dirty="0">
                <a:latin typeface="Times New Roman"/>
                <a:cs typeface="Times New Roman"/>
              </a:rPr>
              <a:t> </a:t>
            </a:r>
            <a:r>
              <a:rPr lang="en-US" sz="1800" b="1" spc="25" dirty="0">
                <a:latin typeface="Times New Roman"/>
                <a:cs typeface="Times New Roman"/>
              </a:rPr>
              <a:t>M</a:t>
            </a:r>
            <a:r>
              <a:rPr lang="en-US" sz="1800" b="1" dirty="0">
                <a:latin typeface="Times New Roman"/>
                <a:cs typeface="Times New Roman"/>
              </a:rPr>
              <a:t>.</a:t>
            </a:r>
            <a:r>
              <a:rPr lang="en-US" sz="1800" b="1" spc="-10" dirty="0">
                <a:latin typeface="Times New Roman"/>
                <a:cs typeface="Times New Roman"/>
              </a:rPr>
              <a:t>G</a:t>
            </a:r>
            <a:r>
              <a:rPr lang="en-US" sz="1800" b="1" dirty="0">
                <a:latin typeface="Times New Roman"/>
                <a:cs typeface="Times New Roman"/>
              </a:rPr>
              <a:t>.</a:t>
            </a:r>
            <a:r>
              <a:rPr lang="en-US" sz="1800" b="1" spc="-5" dirty="0">
                <a:latin typeface="Times New Roman"/>
                <a:cs typeface="Times New Roman"/>
              </a:rPr>
              <a:t>R.</a:t>
            </a:r>
            <a:r>
              <a:rPr lang="en-US" sz="1800" b="1" spc="-15" dirty="0">
                <a:latin typeface="Times New Roman"/>
                <a:cs typeface="Times New Roman"/>
              </a:rPr>
              <a:t> </a:t>
            </a:r>
            <a:r>
              <a:rPr lang="en-US" sz="1800" b="1" spc="25" dirty="0">
                <a:latin typeface="Times New Roman"/>
                <a:cs typeface="Times New Roman"/>
              </a:rPr>
              <a:t>M</a:t>
            </a:r>
            <a:r>
              <a:rPr lang="en-US" sz="1800" b="1" spc="-5" dirty="0">
                <a:latin typeface="Times New Roman"/>
                <a:cs typeface="Times New Roman"/>
              </a:rPr>
              <a:t>EDIC</a:t>
            </a:r>
            <a:r>
              <a:rPr lang="en-US" sz="1800" b="1" spc="-15" dirty="0">
                <a:latin typeface="Times New Roman"/>
                <a:cs typeface="Times New Roman"/>
              </a:rPr>
              <a:t>A</a:t>
            </a:r>
            <a:r>
              <a:rPr lang="en-US" sz="1800" b="1" dirty="0">
                <a:latin typeface="Times New Roman"/>
                <a:cs typeface="Times New Roman"/>
              </a:rPr>
              <a:t>L</a:t>
            </a:r>
            <a:r>
              <a:rPr lang="en-US" sz="1800" b="1" spc="-114" dirty="0">
                <a:latin typeface="Times New Roman"/>
                <a:cs typeface="Times New Roman"/>
              </a:rPr>
              <a:t> </a:t>
            </a:r>
            <a:r>
              <a:rPr lang="en-US" sz="1800" b="1" spc="-5" dirty="0">
                <a:latin typeface="Times New Roman"/>
                <a:cs typeface="Times New Roman"/>
              </a:rPr>
              <a:t>UN</a:t>
            </a:r>
            <a:r>
              <a:rPr lang="en-US" sz="1800" b="1" spc="-15" dirty="0">
                <a:latin typeface="Times New Roman"/>
                <a:cs typeface="Times New Roman"/>
              </a:rPr>
              <a:t>I</a:t>
            </a:r>
            <a:r>
              <a:rPr lang="en-US" sz="1800" b="1" spc="-35" dirty="0">
                <a:latin typeface="Times New Roman"/>
                <a:cs typeface="Times New Roman"/>
              </a:rPr>
              <a:t>V</a:t>
            </a:r>
            <a:r>
              <a:rPr lang="en-US" sz="1800" b="1" spc="-5" dirty="0">
                <a:latin typeface="Times New Roman"/>
                <a:cs typeface="Times New Roman"/>
              </a:rPr>
              <a:t>ER</a:t>
            </a:r>
            <a:r>
              <a:rPr lang="en-US" sz="1800" b="1" dirty="0">
                <a:latin typeface="Times New Roman"/>
                <a:cs typeface="Times New Roman"/>
              </a:rPr>
              <a:t>S</a:t>
            </a:r>
            <a:r>
              <a:rPr lang="en-US" sz="1800" b="1" spc="-5" dirty="0">
                <a:latin typeface="Times New Roman"/>
                <a:cs typeface="Times New Roman"/>
              </a:rPr>
              <a:t>IT</a:t>
            </a:r>
            <a:r>
              <a:rPr lang="en-US" sz="1800" b="1" spc="-180" dirty="0">
                <a:latin typeface="Times New Roman"/>
                <a:cs typeface="Times New Roman"/>
              </a:rPr>
              <a:t>Y</a:t>
            </a:r>
            <a:r>
              <a:rPr lang="en-US" sz="1800" b="1" dirty="0">
                <a:latin typeface="Times New Roman"/>
                <a:cs typeface="Times New Roman"/>
              </a:rPr>
              <a:t>,</a:t>
            </a:r>
          </a:p>
          <a:p>
            <a:pPr marL="269240" marR="1905" algn="ctr">
              <a:lnSpc>
                <a:spcPct val="100000"/>
              </a:lnSpc>
              <a:spcBef>
                <a:spcPts val="600"/>
              </a:spcBef>
            </a:pPr>
            <a:r>
              <a:rPr lang="en-US" sz="1800" b="1" spc="-5" dirty="0">
                <a:latin typeface="Times New Roman"/>
                <a:cs typeface="Times New Roman"/>
              </a:rPr>
              <a:t> CHENNAI</a:t>
            </a:r>
            <a:r>
              <a:rPr lang="en-US" sz="1800" b="1" spc="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-</a:t>
            </a:r>
            <a:r>
              <a:rPr lang="en-US" sz="1800" b="1" spc="-1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600</a:t>
            </a:r>
            <a:r>
              <a:rPr lang="en-US" sz="1800" b="1" spc="-50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032</a:t>
            </a:r>
          </a:p>
          <a:p>
            <a:pPr marL="269240" algn="ctr">
              <a:lnSpc>
                <a:spcPct val="100000"/>
              </a:lnSpc>
              <a:spcBef>
                <a:spcPts val="58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en-US" sz="1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fulfilment</a:t>
            </a:r>
            <a:r>
              <a:rPr lang="en-US" sz="1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award</a:t>
            </a:r>
            <a:r>
              <a:rPr lang="en-US" sz="1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degree</a:t>
            </a:r>
            <a:r>
              <a:rPr lang="en-US" sz="1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</a:p>
          <a:p>
            <a:pPr marL="269240" algn="ctr">
              <a:lnSpc>
                <a:spcPct val="100000"/>
              </a:lnSpc>
              <a:spcBef>
                <a:spcPts val="575"/>
              </a:spcBef>
            </a:pPr>
            <a:r>
              <a:rPr lang="en-US"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BACHELOR</a:t>
            </a:r>
            <a:r>
              <a:rPr lang="en-US"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lang="en-US" sz="1800" b="1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PHARMACY</a:t>
            </a:r>
          </a:p>
          <a:p>
            <a:pPr marL="435609" algn="ctr">
              <a:lnSpc>
                <a:spcPct val="100000"/>
              </a:lnSpc>
              <a:spcBef>
                <a:spcPts val="605"/>
              </a:spcBef>
            </a:pPr>
            <a:r>
              <a:rPr lang="en-US"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IN</a:t>
            </a:r>
          </a:p>
          <a:p>
            <a:pPr marL="379730" algn="ctr">
              <a:lnSpc>
                <a:spcPct val="100000"/>
              </a:lnSpc>
              <a:spcBef>
                <a:spcPts val="575"/>
              </a:spcBef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lang="en-US"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lang="en-US" sz="1800" b="1" spc="25" dirty="0">
                <a:solidFill>
                  <a:srgbClr val="FF0000"/>
                </a:solidFill>
                <a:latin typeface="Times New Roman"/>
                <a:cs typeface="Times New Roman"/>
              </a:rPr>
              <a:t>M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E</a:t>
            </a:r>
            <a:r>
              <a:rPr lang="en-US"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U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lang="en-US" sz="1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lang="en-US"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L </a:t>
            </a:r>
            <a:r>
              <a:rPr lang="en-US" sz="1800" b="1" spc="-2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A</a:t>
            </a:r>
            <a:r>
              <a:rPr lang="en-US" sz="1800" b="1" spc="-175" dirty="0">
                <a:solidFill>
                  <a:srgbClr val="FF0000"/>
                </a:solidFill>
                <a:latin typeface="Times New Roman"/>
                <a:cs typeface="Times New Roman"/>
              </a:rPr>
              <a:t>L</a:t>
            </a:r>
            <a:r>
              <a:rPr lang="en-US" sz="1800" b="1" dirty="0">
                <a:solidFill>
                  <a:srgbClr val="FF0000"/>
                </a:solidFill>
                <a:latin typeface="Times New Roman"/>
                <a:cs typeface="Times New Roman"/>
              </a:rPr>
              <a:t>YSIS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241AF0-2476-3985-BE34-5D37D16939BF}"/>
              </a:ext>
            </a:extLst>
          </p:cNvPr>
          <p:cNvSpPr txBox="1"/>
          <p:nvPr/>
        </p:nvSpPr>
        <p:spPr>
          <a:xfrm>
            <a:off x="6138082" y="4007294"/>
            <a:ext cx="2842146" cy="2644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1600" b="1" u="sng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DHINESH KUMAR .C 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GOKUL .S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RAMANA .R 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SENTHIL RAJ. M.G 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SRIKANTH . A</a:t>
            </a:r>
          </a:p>
          <a:p>
            <a:pPr marL="24130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C67FF1-1BBC-2AC5-B929-C681767CA546}"/>
              </a:ext>
            </a:extLst>
          </p:cNvPr>
          <p:cNvSpPr txBox="1"/>
          <p:nvPr/>
        </p:nvSpPr>
        <p:spPr>
          <a:xfrm>
            <a:off x="1095234" y="4007294"/>
            <a:ext cx="4449170" cy="267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1600" b="1" u="sng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D.K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MALAKANNAN, M.Pharm., Ph.D.,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AND HEAD,
DEPARTMENT OF PHARMACEUTICAL 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ANALYSIS,</a:t>
            </a:r>
          </a:p>
          <a:p>
            <a:pPr algn="l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COLLEGE OF PHARMACY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02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46C5C-BB58-D75D-1A23-8CBDC453B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78" y="122576"/>
            <a:ext cx="3583858" cy="427700"/>
          </a:xfrm>
        </p:spPr>
        <p:txBody>
          <a:bodyPr>
            <a:normAutofit/>
          </a:bodyPr>
          <a:lstStyle/>
          <a:p>
            <a:pPr algn="ctr"/>
            <a:r>
              <a:rPr lang="en-US" sz="2400" b="1" spc="16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E26D7-71D2-1753-73F2-C226686FC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50276"/>
            <a:ext cx="7886700" cy="579152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lang="en-US" sz="2200" b="1" spc="-5" dirty="0">
                <a:latin typeface="Times New Roman"/>
                <a:cs typeface="Times New Roman"/>
              </a:rPr>
              <a:t>High</a:t>
            </a:r>
            <a:r>
              <a:rPr lang="en-US" sz="2200" b="1" spc="-20" dirty="0">
                <a:latin typeface="Times New Roman"/>
                <a:cs typeface="Times New Roman"/>
              </a:rPr>
              <a:t> </a:t>
            </a:r>
            <a:r>
              <a:rPr lang="en-US" sz="2200" b="1" spc="-10" dirty="0">
                <a:latin typeface="Times New Roman"/>
                <a:cs typeface="Times New Roman"/>
              </a:rPr>
              <a:t>Performance</a:t>
            </a:r>
            <a:r>
              <a:rPr lang="en-US" sz="2200" b="1" spc="65" dirty="0">
                <a:latin typeface="Times New Roman"/>
                <a:cs typeface="Times New Roman"/>
              </a:rPr>
              <a:t> </a:t>
            </a:r>
            <a:r>
              <a:rPr lang="en-US" sz="2200" b="1" spc="-10" dirty="0">
                <a:latin typeface="Times New Roman"/>
                <a:cs typeface="Times New Roman"/>
              </a:rPr>
              <a:t>Liquid</a:t>
            </a:r>
            <a:r>
              <a:rPr lang="en-US" sz="2200" b="1" spc="20" dirty="0">
                <a:latin typeface="Times New Roman"/>
                <a:cs typeface="Times New Roman"/>
              </a:rPr>
              <a:t> </a:t>
            </a:r>
            <a:r>
              <a:rPr lang="en-US" sz="2200" b="1" spc="-10" dirty="0">
                <a:latin typeface="Times New Roman"/>
                <a:cs typeface="Times New Roman"/>
              </a:rPr>
              <a:t>Chromatography</a:t>
            </a:r>
            <a:endParaRPr lang="en-US" sz="2200" dirty="0">
              <a:latin typeface="Times New Roman"/>
              <a:cs typeface="Times New Roman"/>
            </a:endParaRPr>
          </a:p>
          <a:p>
            <a:pPr marL="423545" marR="8255" indent="-287020" algn="just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424180" algn="l"/>
              </a:tabLst>
            </a:pPr>
            <a:r>
              <a:rPr lang="en-US" sz="2000" spc="-5" dirty="0">
                <a:latin typeface="Times New Roman"/>
                <a:cs typeface="Times New Roman"/>
              </a:rPr>
              <a:t>"</a:t>
            </a:r>
            <a:r>
              <a:rPr lang="en-US" sz="2000" b="1" spc="-5" dirty="0">
                <a:latin typeface="Times New Roman"/>
                <a:cs typeface="Times New Roman"/>
              </a:rPr>
              <a:t>Chromatography</a:t>
            </a:r>
            <a:r>
              <a:rPr lang="en-US" sz="2000" spc="-5" dirty="0">
                <a:latin typeface="Times New Roman"/>
                <a:cs typeface="Times New Roman"/>
              </a:rPr>
              <a:t>" </a:t>
            </a:r>
            <a:r>
              <a:rPr lang="en-US" sz="2000" dirty="0">
                <a:latin typeface="Times New Roman"/>
                <a:cs typeface="Times New Roman"/>
              </a:rPr>
              <a:t>is a technique </a:t>
            </a:r>
            <a:r>
              <a:rPr lang="en-US" sz="2000" spc="-10" dirty="0">
                <a:latin typeface="Times New Roman"/>
                <a:cs typeface="Times New Roman"/>
              </a:rPr>
              <a:t>for </a:t>
            </a:r>
            <a:r>
              <a:rPr lang="en-US" sz="2000" spc="-5" dirty="0">
                <a:latin typeface="Times New Roman"/>
                <a:cs typeface="Times New Roman"/>
              </a:rPr>
              <a:t>separation </a:t>
            </a:r>
            <a:r>
              <a:rPr lang="en-US" sz="2000" spc="5" dirty="0">
                <a:latin typeface="Times New Roman"/>
                <a:cs typeface="Times New Roman"/>
              </a:rPr>
              <a:t>of </a:t>
            </a:r>
            <a:r>
              <a:rPr lang="en-US" sz="2000" spc="-5" dirty="0">
                <a:latin typeface="Times New Roman"/>
                <a:cs typeface="Times New Roman"/>
              </a:rPr>
              <a:t>mixture </a:t>
            </a:r>
            <a:r>
              <a:rPr lang="en-US" sz="2000" spc="5" dirty="0">
                <a:latin typeface="Times New Roman"/>
                <a:cs typeface="Times New Roman"/>
              </a:rPr>
              <a:t>of </a:t>
            </a:r>
            <a:r>
              <a:rPr lang="en-US" sz="2000" spc="-5" dirty="0">
                <a:latin typeface="Times New Roman"/>
                <a:cs typeface="Times New Roman"/>
              </a:rPr>
              <a:t>compounds into </a:t>
            </a:r>
            <a:r>
              <a:rPr lang="en-US" sz="2000" dirty="0">
                <a:latin typeface="Times New Roman"/>
                <a:cs typeface="Times New Roman"/>
              </a:rPr>
              <a:t> individual </a:t>
            </a:r>
            <a:r>
              <a:rPr lang="en-US" sz="2000" spc="-5" dirty="0">
                <a:latin typeface="Times New Roman"/>
                <a:cs typeface="Times New Roman"/>
              </a:rPr>
              <a:t>components </a:t>
            </a:r>
            <a:r>
              <a:rPr lang="en-US" sz="2000" spc="5" dirty="0">
                <a:latin typeface="Times New Roman"/>
                <a:cs typeface="Times New Roman"/>
              </a:rPr>
              <a:t>by </a:t>
            </a:r>
            <a:r>
              <a:rPr lang="en-US" sz="2000" dirty="0">
                <a:latin typeface="Times New Roman"/>
                <a:cs typeface="Times New Roman"/>
              </a:rPr>
              <a:t>using </a:t>
            </a:r>
            <a:r>
              <a:rPr lang="en-US" sz="2000" spc="-5" dirty="0">
                <a:latin typeface="Times New Roman"/>
                <a:cs typeface="Times New Roman"/>
              </a:rPr>
              <a:t>mobile </a:t>
            </a:r>
            <a:r>
              <a:rPr lang="en-US" sz="2000" dirty="0">
                <a:latin typeface="Times New Roman"/>
                <a:cs typeface="Times New Roman"/>
              </a:rPr>
              <a:t>and </a:t>
            </a:r>
            <a:r>
              <a:rPr lang="en-US" sz="2000" spc="-5" dirty="0">
                <a:latin typeface="Times New Roman"/>
                <a:cs typeface="Times New Roman"/>
              </a:rPr>
              <a:t>stationary </a:t>
            </a:r>
            <a:r>
              <a:rPr lang="en-US" sz="2000" dirty="0">
                <a:latin typeface="Times New Roman"/>
                <a:cs typeface="Times New Roman"/>
              </a:rPr>
              <a:t>phase. </a:t>
            </a:r>
            <a:r>
              <a:rPr lang="en-US" sz="2000" spc="-10" dirty="0">
                <a:latin typeface="Times New Roman"/>
                <a:cs typeface="Times New Roman"/>
              </a:rPr>
              <a:t>“</a:t>
            </a:r>
            <a:r>
              <a:rPr lang="en-US" sz="2000" b="1" spc="-10" dirty="0">
                <a:latin typeface="Times New Roman"/>
                <a:cs typeface="Times New Roman"/>
              </a:rPr>
              <a:t>Chromatogram</a:t>
            </a:r>
            <a:r>
              <a:rPr lang="en-US" sz="2000" spc="-10" dirty="0">
                <a:latin typeface="Times New Roman"/>
                <a:cs typeface="Times New Roman"/>
              </a:rPr>
              <a:t>" </a:t>
            </a:r>
            <a:r>
              <a:rPr lang="en-US" sz="2000" spc="-5" dirty="0">
                <a:latin typeface="Times New Roman"/>
                <a:cs typeface="Times New Roman"/>
              </a:rPr>
              <a:t>is </a:t>
            </a:r>
            <a:r>
              <a:rPr lang="en-US" sz="2000" dirty="0">
                <a:latin typeface="Times New Roman"/>
                <a:cs typeface="Times New Roman"/>
              </a:rPr>
              <a:t> the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result</a:t>
            </a:r>
            <a:r>
              <a:rPr lang="en-US" sz="2000" spc="5" dirty="0">
                <a:latin typeface="Times New Roman"/>
                <a:cs typeface="Times New Roman"/>
              </a:rPr>
              <a:t> of</a:t>
            </a:r>
            <a:r>
              <a:rPr lang="en-US" sz="2000" spc="10" dirty="0">
                <a:latin typeface="Times New Roman"/>
                <a:cs typeface="Times New Roman"/>
              </a:rPr>
              <a:t> </a:t>
            </a:r>
            <a:r>
              <a:rPr lang="en-US" sz="2000" spc="-15" dirty="0">
                <a:latin typeface="Times New Roman"/>
                <a:cs typeface="Times New Roman"/>
              </a:rPr>
              <a:t>chromatography,</a:t>
            </a:r>
            <a:r>
              <a:rPr lang="en-US" sz="2000" spc="-1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and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"chromatograph"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is</a:t>
            </a:r>
            <a:r>
              <a:rPr lang="en-US" sz="2000" dirty="0">
                <a:latin typeface="Times New Roman"/>
                <a:cs typeface="Times New Roman"/>
              </a:rPr>
              <a:t> the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instrument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used</a:t>
            </a:r>
            <a:r>
              <a:rPr lang="en-US" sz="2000" spc="44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to 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conduct</a:t>
            </a:r>
            <a:r>
              <a:rPr lang="en-US" sz="2000" spc="-35" dirty="0">
                <a:latin typeface="Times New Roman"/>
                <a:cs typeface="Times New Roman"/>
              </a:rPr>
              <a:t> </a:t>
            </a:r>
            <a:r>
              <a:rPr lang="en-US" sz="2000" spc="-15" dirty="0">
                <a:latin typeface="Times New Roman"/>
                <a:cs typeface="Times New Roman"/>
              </a:rPr>
              <a:t>chromatography.</a:t>
            </a:r>
            <a:endParaRPr lang="en-US" sz="2000" dirty="0">
              <a:latin typeface="Times New Roman"/>
              <a:cs typeface="Times New Roman"/>
            </a:endParaRPr>
          </a:p>
          <a:p>
            <a:pPr marL="423545" marR="5080" indent="-287020" algn="just">
              <a:lnSpc>
                <a:spcPct val="90000"/>
              </a:lnSpc>
              <a:spcBef>
                <a:spcPts val="819"/>
              </a:spcBef>
              <a:buFont typeface="Arial MT"/>
              <a:buChar char="•"/>
              <a:tabLst>
                <a:tab pos="42418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Only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compounds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dissolved</a:t>
            </a:r>
            <a:r>
              <a:rPr lang="en-US" sz="2000" dirty="0">
                <a:latin typeface="Times New Roman"/>
                <a:cs typeface="Times New Roman"/>
              </a:rPr>
              <a:t> in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solvents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can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lang="en-US" sz="2000" spc="5" dirty="0">
                <a:latin typeface="Times New Roman"/>
                <a:cs typeface="Times New Roman"/>
              </a:rPr>
              <a:t>be</a:t>
            </a:r>
            <a:r>
              <a:rPr lang="en-US" sz="2000" spc="1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analyzed</a:t>
            </a:r>
            <a:r>
              <a:rPr lang="en-US" sz="2000" spc="-5" dirty="0">
                <a:latin typeface="Times New Roman"/>
                <a:cs typeface="Times New Roman"/>
              </a:rPr>
              <a:t> with</a:t>
            </a:r>
            <a:r>
              <a:rPr lang="en-US" sz="2000" spc="44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HPLC.</a:t>
            </a:r>
            <a:r>
              <a:rPr lang="en-US" sz="2000" spc="4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HPLC 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separates</a:t>
            </a:r>
            <a:r>
              <a:rPr lang="en-US" sz="2000" dirty="0">
                <a:latin typeface="Times New Roman"/>
                <a:cs typeface="Times New Roman"/>
              </a:rPr>
              <a:t> compounds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dissolved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a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liquid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sample</a:t>
            </a:r>
            <a:r>
              <a:rPr lang="en-US" sz="2000" spc="-5" dirty="0">
                <a:latin typeface="Times New Roman"/>
                <a:cs typeface="Times New Roman"/>
              </a:rPr>
              <a:t> and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allows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qualitative</a:t>
            </a:r>
            <a:r>
              <a:rPr lang="en-US" sz="2000" dirty="0">
                <a:latin typeface="Times New Roman"/>
                <a:cs typeface="Times New Roman"/>
              </a:rPr>
              <a:t> and 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latin typeface="Times New Roman"/>
                <a:cs typeface="Times New Roman"/>
              </a:rPr>
              <a:t>quantitative </a:t>
            </a:r>
            <a:r>
              <a:rPr lang="en-US" sz="2000" spc="-10" dirty="0">
                <a:latin typeface="Times New Roman"/>
                <a:cs typeface="Times New Roman"/>
              </a:rPr>
              <a:t>analysis </a:t>
            </a:r>
            <a:r>
              <a:rPr lang="en-US" sz="2000" spc="5" dirty="0">
                <a:latin typeface="Times New Roman"/>
                <a:cs typeface="Times New Roman"/>
              </a:rPr>
              <a:t>of </a:t>
            </a:r>
            <a:r>
              <a:rPr lang="en-US" sz="2000" spc="-10" dirty="0">
                <a:latin typeface="Times New Roman"/>
                <a:cs typeface="Times New Roman"/>
              </a:rPr>
              <a:t>what </a:t>
            </a:r>
            <a:r>
              <a:rPr lang="en-US" sz="2000" spc="-5" dirty="0">
                <a:latin typeface="Times New Roman"/>
                <a:cs typeface="Times New Roman"/>
              </a:rPr>
              <a:t>components </a:t>
            </a:r>
            <a:r>
              <a:rPr lang="en-US" sz="2000" spc="-10" dirty="0">
                <a:latin typeface="Times New Roman"/>
                <a:cs typeface="Times New Roman"/>
              </a:rPr>
              <a:t>and </a:t>
            </a:r>
            <a:r>
              <a:rPr lang="en-US" sz="2000" spc="5" dirty="0">
                <a:latin typeface="Times New Roman"/>
                <a:cs typeface="Times New Roman"/>
              </a:rPr>
              <a:t>how </a:t>
            </a:r>
            <a:r>
              <a:rPr lang="en-US" sz="2000" spc="-10" dirty="0">
                <a:latin typeface="Times New Roman"/>
                <a:cs typeface="Times New Roman"/>
              </a:rPr>
              <a:t>much </a:t>
            </a:r>
            <a:r>
              <a:rPr lang="en-US" sz="2000" spc="5" dirty="0">
                <a:latin typeface="Times New Roman"/>
                <a:cs typeface="Times New Roman"/>
              </a:rPr>
              <a:t>of </a:t>
            </a:r>
            <a:r>
              <a:rPr lang="en-US" sz="2000" spc="-5" dirty="0">
                <a:latin typeface="Times New Roman"/>
                <a:cs typeface="Times New Roman"/>
              </a:rPr>
              <a:t>each component </a:t>
            </a:r>
            <a:r>
              <a:rPr lang="en-US" sz="2000" dirty="0">
                <a:latin typeface="Times New Roman"/>
                <a:cs typeface="Times New Roman"/>
              </a:rPr>
              <a:t>are </a:t>
            </a:r>
            <a:r>
              <a:rPr lang="en-US" sz="2000" spc="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contained</a:t>
            </a:r>
            <a:r>
              <a:rPr lang="en-US" sz="2000" spc="-3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in</a:t>
            </a:r>
            <a:r>
              <a:rPr lang="en-US" sz="2000" spc="15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the</a:t>
            </a:r>
            <a:r>
              <a:rPr lang="en-US" sz="2000" spc="-25" dirty="0">
                <a:latin typeface="Times New Roman"/>
                <a:cs typeface="Times New Roman"/>
              </a:rPr>
              <a:t> </a:t>
            </a:r>
            <a:r>
              <a:rPr lang="en-US" sz="2000" spc="-10" dirty="0">
                <a:latin typeface="Times New Roman"/>
                <a:cs typeface="Times New Roman"/>
              </a:rPr>
              <a:t>sample.</a:t>
            </a:r>
          </a:p>
          <a:p>
            <a:pPr marL="136525" marR="5080" indent="0" algn="just">
              <a:lnSpc>
                <a:spcPct val="90000"/>
              </a:lnSpc>
              <a:spcBef>
                <a:spcPts val="819"/>
              </a:spcBef>
              <a:buNone/>
              <a:tabLst>
                <a:tab pos="424180" algn="l"/>
              </a:tabLst>
            </a:pPr>
            <a:endParaRPr lang="en-US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5.jpeg" descr="HPLC: Principle, Parts, Types, Uses, Diagram">
            <a:extLst>
              <a:ext uri="{FF2B5EF4-FFF2-40B4-BE49-F238E27FC236}">
                <a16:creationId xmlns:a16="http://schemas.microsoft.com/office/drawing/2014/main" id="{9DFBF2DF-E107-D4E0-E2F2-12B370C939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14241"/>
          <a:stretch/>
        </p:blipFill>
        <p:spPr>
          <a:xfrm>
            <a:off x="1194619" y="3613354"/>
            <a:ext cx="6695768" cy="272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18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FCC4-DB89-C30F-B155-C85DE267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419" y="132735"/>
            <a:ext cx="3749340" cy="383459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A82B3-FC21-ED66-FFB3-2259247BC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16194"/>
            <a:ext cx="7886700" cy="5977596"/>
          </a:xfrm>
        </p:spPr>
        <p:txBody>
          <a:bodyPr>
            <a:normAutofit/>
          </a:bodyPr>
          <a:lstStyle/>
          <a:p>
            <a:pPr marL="547688" marR="565150" indent="-206375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AIM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48005" marR="56515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aim of this research work is to develop a novel, accurate, precise, cost-effective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analytical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RP-HPLC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method,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selected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Anti-cancer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drugs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(TEPOTINIB).</a:t>
            </a:r>
            <a:endParaRPr lang="en-US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9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11175" marR="565150" lvl="0" indent="-2317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</a:t>
            </a:r>
            <a:r>
              <a:rPr lang="en-US" sz="18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</a:t>
            </a:r>
            <a:r>
              <a:rPr lang="en-US" sz="18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analytical</a:t>
            </a:r>
            <a:r>
              <a:rPr lang="en-US" sz="1800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1800" spc="1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estimation</a:t>
            </a:r>
            <a:r>
              <a:rPr lang="en-US" sz="18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 in pharmaceutical dosage form using quality by design (QBD) approach.</a:t>
            </a:r>
          </a:p>
          <a:p>
            <a:pPr marL="511175" marR="565150" lvl="0" indent="-2317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validation</a:t>
            </a:r>
            <a:r>
              <a:rPr lang="en-US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developed</a:t>
            </a:r>
            <a:r>
              <a:rPr lang="en-US" sz="1800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using</a:t>
            </a:r>
            <a:r>
              <a:rPr lang="en-US" sz="1800" spc="1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various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parameters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 </a:t>
            </a:r>
            <a:r>
              <a:rPr lang="en-US" sz="18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ICH guidelines.</a:t>
            </a:r>
          </a:p>
          <a:p>
            <a:pPr marL="511175" marR="565150" lvl="0" indent="-2317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105283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develop a stability indicating assay method (SIAM) for Tepotinib by QbD approach</a:t>
            </a:r>
          </a:p>
          <a:p>
            <a:pPr marL="511175" marR="565150" lvl="0" indent="-231775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105283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Conduction of forced degradation studies under different stress condition as per ICH guidelines</a:t>
            </a:r>
          </a:p>
          <a:p>
            <a:pPr marL="0" indent="0">
              <a:spcBef>
                <a:spcPts val="0"/>
              </a:spcBef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774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4C2A-56F7-904B-F4D1-8D4C70899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8699" y="247973"/>
            <a:ext cx="3843580" cy="43306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DRUG PROFILE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D738D-980A-D1C3-F8DF-330CF244F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81037"/>
            <a:ext cx="8370208" cy="549592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TEPOTINIB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8293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IUPAC</a:t>
            </a:r>
            <a:r>
              <a:rPr lang="en-US" sz="1900" b="1" spc="-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 : </a:t>
            </a:r>
            <a:r>
              <a:rPr lang="en-US" sz="1900" spc="-5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3-{1-[(3-{5-[(1-methylpiperidin-</a:t>
            </a:r>
            <a:r>
              <a:rPr lang="en-US" sz="1900" spc="-305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4-yl)</a:t>
            </a:r>
            <a:r>
              <a:rPr lang="en-US" sz="1900" spc="5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methoxy]</a:t>
            </a:r>
            <a:r>
              <a:rPr lang="en-US" sz="1900" spc="5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lang="en-US" sz="1900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pyrimidin2-yl}</a:t>
            </a:r>
            <a:r>
              <a:rPr lang="en-US" sz="1900" spc="5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phenyl)</a:t>
            </a:r>
            <a:r>
              <a:rPr lang="en-US" sz="1900" spc="5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methyl]-6-</a:t>
            </a:r>
            <a:r>
              <a:rPr lang="en-US" sz="1900" spc="5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oxo-1,6-</a:t>
            </a:r>
            <a:r>
              <a:rPr lang="en-US" sz="1900" spc="5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rgbClr val="1F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dihydropyridazin3-yl}benzonitrile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indent="-231775">
              <a:lnSpc>
                <a:spcPct val="100000"/>
              </a:lnSpc>
              <a:spcBef>
                <a:spcPts val="170"/>
              </a:spcBef>
              <a:tabLst>
                <a:tab pos="1422400" algn="l"/>
                <a:tab pos="2235200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</a:t>
            </a:r>
            <a:r>
              <a:rPr lang="en-US" sz="19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en-US" sz="1900" b="1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C29H28N6O2</a:t>
            </a:r>
            <a:endParaRPr lang="en-US" sz="1900" baseline="-2057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indent="-231775">
              <a:lnSpc>
                <a:spcPct val="100000"/>
              </a:lnSpc>
              <a:spcBef>
                <a:spcPts val="170"/>
              </a:spcBef>
              <a:tabLst>
                <a:tab pos="1320800" algn="l"/>
                <a:tab pos="2452688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Molecular</a:t>
            </a:r>
            <a:r>
              <a:rPr lang="en-US" sz="1900" b="1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</a:t>
            </a:r>
            <a:r>
              <a:rPr lang="en-US" sz="19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900" b="1" spc="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5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492.583</a:t>
            </a:r>
            <a:r>
              <a:rPr lang="en-US" sz="1900" spc="-7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5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g/mol</a:t>
            </a:r>
            <a:r>
              <a:rPr lang="en-US" sz="1900" spc="-5" baseline="30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indent="-231775">
              <a:lnSpc>
                <a:spcPct val="100000"/>
              </a:lnSpc>
              <a:spcBef>
                <a:spcPts val="170"/>
              </a:spcBef>
              <a:tabLst>
                <a:tab pos="1538288" algn="l"/>
                <a:tab pos="3033713" algn="l"/>
              </a:tabLst>
            </a:pPr>
            <a:r>
              <a:rPr lang="en-US" sz="19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Appearance</a:t>
            </a:r>
            <a:r>
              <a:rPr lang="en-US" sz="19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9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Film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coated</a:t>
            </a:r>
            <a:r>
              <a:rPr lang="en-US" sz="1900" spc="-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tablets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indent="-231775">
              <a:lnSpc>
                <a:spcPct val="100000"/>
              </a:lnSpc>
              <a:spcBef>
                <a:spcPts val="165"/>
              </a:spcBef>
              <a:tabLst>
                <a:tab pos="973138" algn="l"/>
                <a:tab pos="2801938" algn="l"/>
              </a:tabLst>
            </a:pPr>
            <a:r>
              <a:rPr lang="en-US" sz="19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Boiling</a:t>
            </a:r>
            <a:r>
              <a:rPr lang="en-US" sz="19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point:</a:t>
            </a:r>
            <a:r>
              <a:rPr lang="en-US" sz="19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626.5±65.0℃</a:t>
            </a:r>
            <a:r>
              <a:rPr lang="en-US" sz="19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19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760</a:t>
            </a:r>
            <a:r>
              <a:rPr lang="en-US" sz="1900" spc="-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mmHg</a:t>
            </a:r>
          </a:p>
          <a:p>
            <a:pPr marL="78740" marR="606425">
              <a:lnSpc>
                <a:spcPct val="15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9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Solubility: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slightly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soluble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 pH 4.5 and practically insoluble at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en-US" sz="19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1.2and7.4).</a:t>
            </a:r>
            <a:endParaRPr lang="en-US" sz="1900" spc="-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31775" indent="-231775">
              <a:lnSpc>
                <a:spcPct val="100000"/>
              </a:lnSpc>
              <a:spcBef>
                <a:spcPts val="170"/>
              </a:spcBef>
              <a:tabLst>
                <a:tab pos="1422400" algn="l"/>
                <a:tab pos="2293938" algn="l"/>
              </a:tabLst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Bioavailability: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72%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</a:t>
            </a:r>
          </a:p>
        </p:txBody>
      </p:sp>
      <p:pic>
        <p:nvPicPr>
          <p:cNvPr id="8" name="image12.png" descr="Tepotinib - Wikipedia">
            <a:extLst>
              <a:ext uri="{FF2B5EF4-FFF2-40B4-BE49-F238E27FC236}">
                <a16:creationId xmlns:a16="http://schemas.microsoft.com/office/drawing/2014/main" id="{124B2108-FE75-8527-943F-932BE8EEEAC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6171" y="1114101"/>
            <a:ext cx="4034971" cy="175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590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01EC9-BB74-E59D-A3D0-CD6DDFCB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886" y="159657"/>
            <a:ext cx="4354285" cy="521380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MATERIALS AND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AE86E-99CE-3DEC-BFE4-54D8D9F8D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98286"/>
            <a:ext cx="7886700" cy="55734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           </a:t>
            </a:r>
            <a:r>
              <a:rPr lang="en-US" sz="1800" dirty="0"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Tepotinib pure drug (API), Tepotinib formulation (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Tepmetko</a:t>
            </a:r>
            <a:r>
              <a:rPr lang="en-US" sz="19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), Distilled water,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Acetonitrile, Phosphate buffer, Methanol, Potassium dihydrogen ortho phosphate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buffer, Ortho-phosphoric acid. All the above chemicals and solvents are from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Wingdings" panose="05000000000000000000" pitchFamily="2" charset="2"/>
                <a:cs typeface="Wingdings" panose="05000000000000000000" pitchFamily="2" charset="2"/>
              </a:rPr>
              <a:t>Rankem.</a:t>
            </a:r>
          </a:p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INSTRUMENTS</a:t>
            </a:r>
            <a:endParaRPr lang="en-US" sz="2200" dirty="0"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742950" marR="748665" lvl="1" indent="-285750" algn="just">
              <a:lnSpc>
                <a:spcPct val="160000"/>
              </a:lnSpc>
              <a:spcBef>
                <a:spcPts val="720"/>
              </a:spcBef>
              <a:spcAft>
                <a:spcPts val="0"/>
              </a:spcAft>
              <a:buSzPts val="1150"/>
              <a:buFont typeface="Symbol" panose="05050102010706020507" pitchFamily="18" charset="2"/>
              <a:buChar char=""/>
              <a:tabLst>
                <a:tab pos="972185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WATERS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HPLC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2695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SYSTEM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equipped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with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quaternary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pumps</a:t>
            </a:r>
          </a:p>
          <a:p>
            <a:pPr marL="742950" marR="748665" lvl="1" indent="-285750" algn="just">
              <a:lnSpc>
                <a:spcPct val="160000"/>
              </a:lnSpc>
              <a:spcBef>
                <a:spcPts val="720"/>
              </a:spcBef>
              <a:spcAft>
                <a:spcPts val="0"/>
              </a:spcAft>
              <a:buSzPts val="1150"/>
              <a:buFont typeface="Symbol" panose="05050102010706020507" pitchFamily="18" charset="2"/>
              <a:buChar char=""/>
              <a:tabLst>
                <a:tab pos="972185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Photo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Diode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Array</a:t>
            </a:r>
            <a:r>
              <a:rPr lang="en-US" sz="1900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detector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and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Auto</a:t>
            </a:r>
            <a:r>
              <a:rPr lang="en-US" sz="1900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sampler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integrated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with</a:t>
            </a:r>
            <a:r>
              <a:rPr lang="en-US" sz="1900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Empower</a:t>
            </a:r>
            <a:r>
              <a:rPr lang="en-US" sz="1900" spc="-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2</a:t>
            </a:r>
            <a:r>
              <a:rPr lang="en-US" sz="1900" spc="-1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Software.</a:t>
            </a:r>
          </a:p>
          <a:p>
            <a:pPr marL="742950" marR="741680" lvl="1" indent="-285750" algn="just">
              <a:lnSpc>
                <a:spcPct val="160000"/>
              </a:lnSpc>
              <a:spcBef>
                <a:spcPts val="185"/>
              </a:spcBef>
              <a:spcAft>
                <a:spcPts val="0"/>
              </a:spcAft>
              <a:buSzPts val="1150"/>
              <a:buFont typeface="Symbol" panose="05050102010706020507" pitchFamily="18" charset="2"/>
              <a:buChar char=""/>
              <a:tabLst>
                <a:tab pos="972185" algn="l"/>
              </a:tabLst>
            </a:pP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UV-VIS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spectrophotometer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PG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Instruments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T60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with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special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bandwidth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of</a:t>
            </a:r>
            <a:r>
              <a:rPr lang="en-US" sz="1900" spc="-3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2mm and 10mm and matched quartz cells integrated with UV win 6 Software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was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used</a:t>
            </a:r>
            <a:r>
              <a:rPr lang="en-US" sz="1900" spc="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for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measuring</a:t>
            </a:r>
            <a:r>
              <a:rPr lang="en-US" sz="19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absorbance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of</a:t>
            </a:r>
            <a:r>
              <a:rPr lang="en-US" sz="1900" spc="-2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Tepotinib</a:t>
            </a:r>
            <a:r>
              <a:rPr lang="en-US" sz="1900" spc="-1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 </a:t>
            </a:r>
            <a:r>
              <a:rPr lang="en-US" sz="1900" dirty="0">
                <a:effectLst/>
                <a:latin typeface="Times New Roman" panose="02020603050405020304" pitchFamily="18" charset="0"/>
                <a:ea typeface="Symbol" panose="05050102010706020507" pitchFamily="18" charset="2"/>
                <a:cs typeface="Symbol" panose="05050102010706020507" pitchFamily="18" charset="2"/>
              </a:rPr>
              <a:t>solution.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636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FC70F-C643-631F-637E-4D4751436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468" y="216976"/>
            <a:ext cx="8648054" cy="66410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LITRATURE REVIEW</a:t>
            </a:r>
          </a:p>
          <a:p>
            <a:pPr marL="377190" marR="726440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</a:t>
            </a:r>
            <a:r>
              <a:rPr lang="en-US" sz="18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Nikhil</a:t>
            </a:r>
            <a:r>
              <a:rPr lang="en-US" sz="18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</a:t>
            </a:r>
            <a:r>
              <a:rPr lang="en-US" sz="18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al.,</a:t>
            </a:r>
            <a:r>
              <a:rPr lang="en-US" sz="18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(2022)</a:t>
            </a:r>
            <a:r>
              <a:rPr lang="en-US" sz="18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established a highly precise RP-HPLC method for the estimation of Tepotinib, utilizing an Ascentis column (150 mm × 4.6 mm, particle size 2.7 µm). The chromatographic analysis employed a mobile phase composed of a 50:50 mixture of acetonitrile and 0.1% OPA, flowing at a rate of 1 mL/min. Method optimization ensured accuracy, evidenced by intermediate accuracy values of 0.9 and 1.2 during the validation process. Detection was accomplished at a wavelength of 310 nm, with the column temperature consistently maintained at 30°C. The mobile phase served as the diluent for the analysis, streamlining the procedure. Limits of quantification (LOQ) and detection (LOD) for Tepotinib were established at 0.85 g/mL and 0.28 g/mL, respectively. </a:t>
            </a:r>
            <a:endParaRPr lang="en-US" sz="1800" spc="5" baseline="30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7190" marR="72644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algn="just">
              <a:spcBef>
                <a:spcPts val="4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215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9C291-0B33-97BE-8339-96D2E61B1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61" y="309966"/>
            <a:ext cx="8415580" cy="6137329"/>
          </a:xfrm>
        </p:spPr>
        <p:txBody>
          <a:bodyPr>
            <a:normAutofit fontScale="92500" lnSpcReduction="10000"/>
          </a:bodyPr>
          <a:lstStyle/>
          <a:p>
            <a:pPr marL="377190" marR="730885" indent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M.M.</a:t>
            </a:r>
            <a:r>
              <a:rPr lang="en-US" sz="19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Shirawar</a:t>
            </a:r>
            <a:r>
              <a:rPr lang="en-US" sz="19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et</a:t>
            </a:r>
            <a:r>
              <a:rPr lang="en-US" sz="19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al.,</a:t>
            </a:r>
            <a:r>
              <a:rPr lang="en-US" sz="19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(2023)</a:t>
            </a:r>
            <a:r>
              <a:rPr lang="en-US" sz="19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developed of a stability-indicating high-performance liquid chromatography (HPLC) method for the precise quantification of tepotinib in both bulk and pharmaceutical formulations, aligning with established ICH (International Council for Harmonization) guidelines. the study employed a </a:t>
            </a:r>
            <a:r>
              <a:rPr lang="en-US" sz="1900" spc="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Phenomenox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900" spc="5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Kinetex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XB-</a:t>
            </a:r>
            <a:r>
              <a:rPr lang="en-US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</a:t>
            </a:r>
            <a:r>
              <a:rPr lang="en-US" sz="19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18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column (150×4.6 mm, particle size 5µ) for successful  separation. The constant flow rate of 1 mL/min and absorbance measurements at 272 nm ensured method reliability. Systematic evaluations, following ICH guidelines, encompassed linearity, precision, accuracy, system suitability, specificity, and robustness. Results revealed a Tepotinib retention time of approximately 3.4 minutes, exhibiting excellent linearity in the 5-25 μg/mL concentration range (correlation coefficient, r² ≈ 0.9993). High accuracy and precision were demonstrated, with %Relative Standard Deviation values are below 2%. The method's sensitivity was  underscored by LOD and LOQ values  of 0.429 µg/mL and</a:t>
            </a:r>
            <a:r>
              <a:rPr lang="en-US" sz="19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9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1.3 µg/mL, respectively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649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C909E-C3D0-DBE2-4D11-C55959F0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1688" y="108488"/>
            <a:ext cx="3363132" cy="44945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BY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AE6C4-DB10-2EC8-1E59-31E0B9442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97424"/>
            <a:ext cx="7886700" cy="60520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DEFINITION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Pharmaceutical QbD is a systematic approach to development that begins with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predefined objectives and emphasizes product and process understanding 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control based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sound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science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quality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management.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PRINCIPLE</a:t>
            </a:r>
            <a:r>
              <a:rPr lang="en-US" sz="2000" b="1" spc="-65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b="1" spc="-65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QBD</a:t>
            </a:r>
            <a:endParaRPr lang="en-US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48665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basic principle of QbD is that </a:t>
            </a:r>
            <a:r>
              <a:rPr lang="en-US" sz="18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quality cannot be tested into products, but that</a:t>
            </a:r>
            <a:r>
              <a:rPr lang="en-US" sz="1800" spc="-3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quality</a:t>
            </a:r>
            <a:r>
              <a:rPr lang="en-US" sz="1800" spc="-15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should</a:t>
            </a:r>
            <a:r>
              <a:rPr lang="en-US" sz="1800" spc="-1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z="1800" spc="15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built</a:t>
            </a:r>
            <a:r>
              <a:rPr lang="en-US" sz="1800" spc="5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1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800" spc="-15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040C28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</a:t>
            </a:r>
            <a:r>
              <a:rPr lang="en-US" sz="180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36600" lvl="0" indent="-342900" algn="just">
              <a:lnSpc>
                <a:spcPct val="160000"/>
              </a:lnSpc>
              <a:spcBef>
                <a:spcPts val="45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Therefore, QbD aims to ensure the desired quality of the product by assessing the</a:t>
            </a:r>
            <a:r>
              <a:rPr lang="en-US" sz="1800" spc="-305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variables</a:t>
            </a:r>
            <a:r>
              <a:rPr lang="en-US" sz="1800" spc="5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</a:t>
            </a:r>
            <a:r>
              <a:rPr lang="en-US" sz="1800" spc="-1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might impact</a:t>
            </a:r>
            <a:r>
              <a:rPr lang="en-US" sz="1800" spc="5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1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2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quality. </a:t>
            </a:r>
          </a:p>
          <a:p>
            <a:pPr marL="0" marR="736600" lvl="0" indent="0" algn="just">
              <a:lnSpc>
                <a:spcPct val="150000"/>
              </a:lnSpc>
              <a:spcBef>
                <a:spcPts val="45"/>
              </a:spcBef>
              <a:spcAft>
                <a:spcPts val="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OBJECTIVES</a:t>
            </a:r>
            <a:r>
              <a:rPr lang="en-US" sz="2000" b="1" kern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2000" b="1" kern="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QBD</a:t>
            </a:r>
            <a:endParaRPr lang="en-US" sz="2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73660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3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achieve</a:t>
            </a:r>
            <a:r>
              <a:rPr lang="en-US" sz="1800" spc="4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meaningful</a:t>
            </a:r>
            <a:r>
              <a:rPr lang="en-US" sz="1800" spc="7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</a:t>
            </a:r>
            <a:r>
              <a:rPr lang="en-US" sz="1800" spc="6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quality</a:t>
            </a:r>
            <a:r>
              <a:rPr lang="en-US" sz="1800" spc="4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specifications</a:t>
            </a:r>
            <a:r>
              <a:rPr lang="en-US" sz="1800" spc="4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en-US" sz="1800" spc="5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1800" spc="8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based</a:t>
            </a:r>
            <a:r>
              <a:rPr lang="en-US" sz="1800" spc="4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800" spc="3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clinical</a:t>
            </a:r>
            <a:r>
              <a:rPr lang="en-US" sz="1800" spc="-3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performance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5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</a:t>
            </a:r>
            <a:r>
              <a:rPr lang="en-US" sz="1800" spc="1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</a:t>
            </a:r>
            <a:r>
              <a:rPr lang="en-US" sz="1800" spc="16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development</a:t>
            </a:r>
            <a:r>
              <a:rPr lang="en-US" sz="1800" spc="11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13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manufacturing</a:t>
            </a:r>
            <a:r>
              <a:rPr lang="en-US" sz="1800" spc="10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efficiencies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668020" lvl="0" indent="-34290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"/>
            </a:pP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4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</a:t>
            </a:r>
            <a:r>
              <a:rPr lang="en-US" sz="1800" spc="7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root</a:t>
            </a:r>
            <a:r>
              <a:rPr lang="en-US" sz="1800" spc="14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cause</a:t>
            </a:r>
            <a:r>
              <a:rPr lang="en-US" sz="1800" spc="7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</a:t>
            </a:r>
            <a:r>
              <a:rPr lang="en-US" sz="1800" spc="2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12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post</a:t>
            </a:r>
            <a:r>
              <a:rPr lang="en-US" sz="1800" spc="1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approval</a:t>
            </a:r>
            <a:r>
              <a:rPr lang="en-US" sz="1800" spc="1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change</a:t>
            </a:r>
            <a:r>
              <a:rPr lang="en-US" sz="1800" spc="135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rgbClr val="1F1F1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management.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512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3A58B2-35BC-89E5-E718-4F45E63483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275178"/>
              </p:ext>
            </p:extLst>
          </p:nvPr>
        </p:nvGraphicFramePr>
        <p:xfrm>
          <a:off x="1053886" y="1758155"/>
          <a:ext cx="6586778" cy="39142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1181188">
                  <a:extLst>
                    <a:ext uri="{9D8B030D-6E8A-4147-A177-3AD203B41FA5}">
                      <a16:colId xmlns:a16="http://schemas.microsoft.com/office/drawing/2014/main" val="103889043"/>
                    </a:ext>
                  </a:extLst>
                </a:gridCol>
                <a:gridCol w="808782">
                  <a:extLst>
                    <a:ext uri="{9D8B030D-6E8A-4147-A177-3AD203B41FA5}">
                      <a16:colId xmlns:a16="http://schemas.microsoft.com/office/drawing/2014/main" val="3002134314"/>
                    </a:ext>
                  </a:extLst>
                </a:gridCol>
                <a:gridCol w="1376149">
                  <a:extLst>
                    <a:ext uri="{9D8B030D-6E8A-4147-A177-3AD203B41FA5}">
                      <a16:colId xmlns:a16="http://schemas.microsoft.com/office/drawing/2014/main" val="182085883"/>
                    </a:ext>
                  </a:extLst>
                </a:gridCol>
                <a:gridCol w="1188041">
                  <a:extLst>
                    <a:ext uri="{9D8B030D-6E8A-4147-A177-3AD203B41FA5}">
                      <a16:colId xmlns:a16="http://schemas.microsoft.com/office/drawing/2014/main" val="1653087472"/>
                    </a:ext>
                  </a:extLst>
                </a:gridCol>
                <a:gridCol w="1009074">
                  <a:extLst>
                    <a:ext uri="{9D8B030D-6E8A-4147-A177-3AD203B41FA5}">
                      <a16:colId xmlns:a16="http://schemas.microsoft.com/office/drawing/2014/main" val="2945595886"/>
                    </a:ext>
                  </a:extLst>
                </a:gridCol>
                <a:gridCol w="1023544">
                  <a:extLst>
                    <a:ext uri="{9D8B030D-6E8A-4147-A177-3AD203B41FA5}">
                      <a16:colId xmlns:a16="http://schemas.microsoft.com/office/drawing/2014/main" val="3156880925"/>
                    </a:ext>
                  </a:extLst>
                </a:gridCol>
              </a:tblGrid>
              <a:tr h="406929">
                <a:tc gridSpan="6">
                  <a:txBody>
                    <a:bodyPr/>
                    <a:lstStyle/>
                    <a:p>
                      <a:pPr marL="10922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r>
                        <a:rPr lang="en-US" sz="1600" spc="-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418670"/>
                  </a:ext>
                </a:extLst>
              </a:tr>
              <a:tr h="1639570">
                <a:tc gridSpan="3">
                  <a:txBody>
                    <a:bodyPr/>
                    <a:lstStyle/>
                    <a:p>
                      <a:pPr marL="69850" marR="0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</a:t>
                      </a: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    : DX</a:t>
                      </a:r>
                      <a:r>
                        <a:rPr lang="en-US" sz="16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11.0.0</a:t>
                      </a:r>
                    </a:p>
                    <a:p>
                      <a:pPr marL="69850" marR="0">
                        <a:lnSpc>
                          <a:spcPts val="1340"/>
                        </a:lnSpc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</a:t>
                      </a:r>
                      <a:r>
                        <a:rPr lang="en-US" sz="16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    : Response</a:t>
                      </a:r>
                      <a:r>
                        <a:rPr lang="en-US" sz="16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</a:t>
                      </a:r>
                    </a:p>
                    <a:p>
                      <a:pPr marL="69850" marR="113030">
                        <a:lnSpc>
                          <a:spcPts val="205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r>
                        <a:rPr lang="en-US" sz="1600" spc="-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  : Central</a:t>
                      </a:r>
                      <a:r>
                        <a:rPr lang="en-US" sz="16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Composite</a:t>
                      </a:r>
                      <a:r>
                        <a:rPr lang="en-US" sz="16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</a:t>
                      </a:r>
                      <a:r>
                        <a:rPr lang="en-US" sz="1600" spc="-28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</a:t>
                      </a:r>
                      <a:r>
                        <a:rPr lang="en-US" sz="16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:</a:t>
                      </a:r>
                      <a:r>
                        <a:rPr lang="en-US" sz="1600" spc="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Quadratic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68580" marR="0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ATP :</a:t>
                      </a:r>
                      <a:r>
                        <a:rPr lang="en-US" sz="16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Robustness</a:t>
                      </a:r>
                    </a:p>
                    <a:p>
                      <a:pPr marL="68580" marR="0">
                        <a:lnSpc>
                          <a:spcPct val="150000"/>
                        </a:lnSpc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CQA :</a:t>
                      </a:r>
                      <a:r>
                        <a:rPr lang="en-US" sz="1600" spc="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Retention</a:t>
                      </a:r>
                      <a:r>
                        <a:rPr lang="en-US" sz="1600" spc="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time,</a:t>
                      </a:r>
                      <a:r>
                        <a:rPr lang="en-US" sz="1600" spc="6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Area,</a:t>
                      </a:r>
                      <a:r>
                        <a:rPr lang="en-US" sz="1600" spc="6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Theoretical</a:t>
                      </a:r>
                      <a:r>
                        <a:rPr lang="en-US" sz="1600" spc="-28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plates</a:t>
                      </a:r>
                      <a:r>
                        <a:rPr lang="en-US" sz="16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lang="en-US" sz="1600" spc="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Asymmetry</a:t>
                      </a:r>
                    </a:p>
                    <a:p>
                      <a:pPr marL="68580" marR="0">
                        <a:lnSpc>
                          <a:spcPts val="137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Runs :</a:t>
                      </a:r>
                      <a:r>
                        <a:rPr lang="en-US" sz="16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758059"/>
                  </a:ext>
                </a:extLst>
              </a:tr>
              <a:tr h="501747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CMPs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Subtype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Max.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7522824"/>
                  </a:ext>
                </a:extLst>
              </a:tr>
              <a:tr h="541255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temperature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ct val="56000"/>
                        </a:lnSpc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0C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26.64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33.36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96554897"/>
                  </a:ext>
                </a:extLst>
              </a:tr>
              <a:tr h="416807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 rate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mL/min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0.6636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33721221"/>
                  </a:ext>
                </a:extLst>
              </a:tr>
              <a:tr h="407917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%Org</a:t>
                      </a: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ratio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858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53.41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1067546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EC5FAFC-F0F6-44FE-F5C0-4509FB864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E3B7D-5FFF-17FC-BB53-6112325E295B}"/>
              </a:ext>
            </a:extLst>
          </p:cNvPr>
          <p:cNvSpPr txBox="1"/>
          <p:nvPr/>
        </p:nvSpPr>
        <p:spPr>
          <a:xfrm>
            <a:off x="2425485" y="861456"/>
            <a:ext cx="4572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05790" marR="0" algn="just">
              <a:spcBef>
                <a:spcPts val="485"/>
              </a:spcBef>
              <a:spcAft>
                <a:spcPts val="0"/>
              </a:spcAft>
            </a:pPr>
            <a: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Design</a:t>
            </a:r>
            <a:r>
              <a:rPr lang="en-US" sz="1800" b="1" kern="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</a:t>
            </a:r>
            <a:r>
              <a:rPr lang="en-US" sz="1800" b="1" kern="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kern="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CCD</a:t>
            </a:r>
            <a:endParaRPr lang="en-US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5"/>
              </a:spcAft>
            </a:pPr>
            <a:r>
              <a:rPr lang="en-US" sz="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338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4.jpeg">
            <a:extLst>
              <a:ext uri="{FF2B5EF4-FFF2-40B4-BE49-F238E27FC236}">
                <a16:creationId xmlns:a16="http://schemas.microsoft.com/office/drawing/2014/main" id="{3B533691-303B-0221-A90F-DFDA5BFBA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31897" y="175702"/>
            <a:ext cx="6038286" cy="2505505"/>
          </a:xfrm>
          <a:prstGeom prst="rect">
            <a:avLst/>
          </a:prstGeom>
        </p:spPr>
      </p:pic>
      <p:pic>
        <p:nvPicPr>
          <p:cNvPr id="5" name="image16.png">
            <a:extLst>
              <a:ext uri="{FF2B5EF4-FFF2-40B4-BE49-F238E27FC236}">
                <a16:creationId xmlns:a16="http://schemas.microsoft.com/office/drawing/2014/main" id="{117C7814-0E93-C9D8-CB32-CAB8C65CC70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31897" y="3282356"/>
            <a:ext cx="6038285" cy="26346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2E4EFC-63AC-A8F6-18DA-90F14E781FC1}"/>
              </a:ext>
            </a:extLst>
          </p:cNvPr>
          <p:cNvSpPr txBox="1"/>
          <p:nvPr/>
        </p:nvSpPr>
        <p:spPr>
          <a:xfrm>
            <a:off x="1844298" y="2681207"/>
            <a:ext cx="4417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4680" marR="0" algn="just">
              <a:spcBef>
                <a:spcPts val="45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2D</a:t>
            </a:r>
            <a:r>
              <a:rPr lang="en-US" sz="18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Contour</a:t>
            </a:r>
            <a:r>
              <a:rPr lang="en-US" sz="18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plots</a:t>
            </a:r>
            <a:r>
              <a:rPr lang="en-US" sz="18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retention</a:t>
            </a:r>
            <a:r>
              <a:rPr lang="en-US" sz="1800" b="1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sz="1800" b="1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5AD58-6480-9DDE-95AC-EBB32BA2A137}"/>
              </a:ext>
            </a:extLst>
          </p:cNvPr>
          <p:cNvSpPr txBox="1"/>
          <p:nvPr/>
        </p:nvSpPr>
        <p:spPr>
          <a:xfrm>
            <a:off x="1844298" y="6261315"/>
            <a:ext cx="4572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4680" marR="0" algn="just">
              <a:spcBef>
                <a:spcPts val="450"/>
              </a:spcBef>
              <a:spcAft>
                <a:spcPts val="0"/>
              </a:spcAft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18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Contour</a:t>
            </a:r>
            <a:r>
              <a:rPr lang="en-US" sz="18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plots</a:t>
            </a:r>
            <a:r>
              <a:rPr lang="en-US" sz="18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retention</a:t>
            </a:r>
            <a:r>
              <a:rPr lang="en-US" sz="1800" b="1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sz="1800" b="1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233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9.jpeg">
            <a:extLst>
              <a:ext uri="{FF2B5EF4-FFF2-40B4-BE49-F238E27FC236}">
                <a16:creationId xmlns:a16="http://schemas.microsoft.com/office/drawing/2014/main" id="{D4568A05-6456-EDC6-C49D-EBF014368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93369" y="239873"/>
            <a:ext cx="6524787" cy="2743200"/>
          </a:xfrm>
          <a:prstGeom prst="rect">
            <a:avLst/>
          </a:prstGeom>
        </p:spPr>
      </p:pic>
      <p:pic>
        <p:nvPicPr>
          <p:cNvPr id="5" name="image22.jpeg">
            <a:extLst>
              <a:ext uri="{FF2B5EF4-FFF2-40B4-BE49-F238E27FC236}">
                <a16:creationId xmlns:a16="http://schemas.microsoft.com/office/drawing/2014/main" id="{9D43F4A5-5606-2E8F-857E-AAB8479E6E3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69384" y="3661421"/>
            <a:ext cx="6648772" cy="2355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2D1274-E3FF-1DD1-A6CC-551CEC485DEE}"/>
              </a:ext>
            </a:extLst>
          </p:cNvPr>
          <p:cNvSpPr txBox="1"/>
          <p:nvPr/>
        </p:nvSpPr>
        <p:spPr>
          <a:xfrm>
            <a:off x="2169762" y="301191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2D</a:t>
            </a:r>
            <a:r>
              <a:rPr lang="en-US" sz="1800" b="1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Contour plots</a:t>
            </a:r>
            <a:r>
              <a:rPr lang="en-US" sz="1800" b="1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theoretical plates</a:t>
            </a:r>
            <a:r>
              <a:rPr lang="en-US" sz="1800" b="1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CFDA6-842C-7A76-F8A2-1CF5724119EB}"/>
              </a:ext>
            </a:extLst>
          </p:cNvPr>
          <p:cNvSpPr txBox="1"/>
          <p:nvPr/>
        </p:nvSpPr>
        <p:spPr>
          <a:xfrm>
            <a:off x="2169762" y="6297447"/>
            <a:ext cx="502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1800" b="1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Contour plots</a:t>
            </a:r>
            <a:r>
              <a:rPr lang="en-US" sz="1800" b="1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theoretical plates</a:t>
            </a:r>
            <a:r>
              <a:rPr lang="en-US" sz="1800" b="1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443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24.jpeg">
            <a:extLst>
              <a:ext uri="{FF2B5EF4-FFF2-40B4-BE49-F238E27FC236}">
                <a16:creationId xmlns:a16="http://schemas.microsoft.com/office/drawing/2014/main" id="{C4F9CB95-820F-8557-E4B6-7A56648AF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10346" y="346021"/>
            <a:ext cx="6044339" cy="2939620"/>
          </a:xfrm>
          <a:prstGeom prst="rect">
            <a:avLst/>
          </a:prstGeom>
        </p:spPr>
      </p:pic>
      <p:pic>
        <p:nvPicPr>
          <p:cNvPr id="5" name="image27.jpeg">
            <a:extLst>
              <a:ext uri="{FF2B5EF4-FFF2-40B4-BE49-F238E27FC236}">
                <a16:creationId xmlns:a16="http://schemas.microsoft.com/office/drawing/2014/main" id="{374CA533-30A8-5A56-3200-07118198955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0346" y="3833091"/>
            <a:ext cx="6044339" cy="2381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A53993-FDF9-E920-4A4A-F5D371274C47}"/>
              </a:ext>
            </a:extLst>
          </p:cNvPr>
          <p:cNvSpPr txBox="1"/>
          <p:nvPr/>
        </p:nvSpPr>
        <p:spPr>
          <a:xfrm>
            <a:off x="2286000" y="31900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2D</a:t>
            </a:r>
            <a:r>
              <a:rPr lang="en-US" sz="1800" b="1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Contour</a:t>
            </a:r>
            <a:r>
              <a:rPr lang="en-US" sz="1800" b="1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plots</a:t>
            </a:r>
            <a:r>
              <a:rPr lang="en-US" sz="1800" b="1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asymmetry</a:t>
            </a:r>
            <a:r>
              <a:rPr lang="en-US" sz="1800" b="1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CC9E4-C4ED-0E62-2035-0782F82BE6BB}"/>
              </a:ext>
            </a:extLst>
          </p:cNvPr>
          <p:cNvSpPr txBox="1"/>
          <p:nvPr/>
        </p:nvSpPr>
        <p:spPr>
          <a:xfrm>
            <a:off x="2479729" y="6214820"/>
            <a:ext cx="437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sz="1800" b="1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Contour</a:t>
            </a:r>
            <a:r>
              <a:rPr lang="en-US" sz="1800" b="1" spc="7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plots</a:t>
            </a:r>
            <a:r>
              <a:rPr lang="en-US" sz="1800" b="1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asymmetry</a:t>
            </a:r>
            <a:r>
              <a:rPr lang="en-US" sz="1800" b="1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4633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B6091-6347-050A-D775-DB2E05071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0963"/>
            <a:ext cx="7886700" cy="5836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  <a:tabLst>
                <a:tab pos="344170" algn="l"/>
                <a:tab pos="344805" algn="l"/>
              </a:tabLst>
            </a:pPr>
            <a:r>
              <a:rPr lang="en-US" sz="1800" b="1" spc="-50" dirty="0">
                <a:latin typeface="Times New Roman"/>
                <a:cs typeface="Times New Roman"/>
              </a:rPr>
              <a:t>VALIDATION</a:t>
            </a:r>
            <a:r>
              <a:rPr lang="en-US" sz="1800" b="1" spc="45" dirty="0">
                <a:latin typeface="Times New Roman"/>
                <a:cs typeface="Times New Roman"/>
              </a:rPr>
              <a:t> </a:t>
            </a:r>
            <a:r>
              <a:rPr lang="en-US" sz="1800" b="1" spc="-15" dirty="0">
                <a:latin typeface="Times New Roman"/>
                <a:cs typeface="Times New Roman"/>
              </a:rPr>
              <a:t>PARAMETERS</a:t>
            </a:r>
            <a:endParaRPr lang="en-US" sz="1800" dirty="0">
              <a:latin typeface="Times New Roman"/>
              <a:cs typeface="Times New Roman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lang="en-US" sz="1800" spc="-5" dirty="0">
                <a:latin typeface="Times New Roman"/>
                <a:cs typeface="Times New Roman"/>
              </a:rPr>
              <a:t>Specificity</a:t>
            </a:r>
            <a:endParaRPr lang="en-US" sz="1800" dirty="0">
              <a:latin typeface="Times New Roman"/>
              <a:cs typeface="Times New Roman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lang="en-US" sz="1800" spc="-5" dirty="0">
                <a:latin typeface="Times New Roman"/>
                <a:cs typeface="Times New Roman"/>
              </a:rPr>
              <a:t>Linearity</a:t>
            </a:r>
            <a:endParaRPr lang="en-US" sz="1800" dirty="0">
              <a:latin typeface="Times New Roman"/>
              <a:cs typeface="Times New Roman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Precision</a:t>
            </a: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lang="en-US" sz="1800" spc="-10" dirty="0">
                <a:latin typeface="Times New Roman"/>
                <a:cs typeface="Times New Roman"/>
              </a:rPr>
              <a:t>Accuracy</a:t>
            </a:r>
            <a:endParaRPr lang="en-US" sz="1800" dirty="0">
              <a:latin typeface="Times New Roman"/>
              <a:cs typeface="Times New Roman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lang="en-US" sz="1800" spc="-5" dirty="0">
                <a:latin typeface="Times New Roman"/>
                <a:cs typeface="Times New Roman"/>
              </a:rPr>
              <a:t>Sensitivity</a:t>
            </a:r>
            <a:endParaRPr lang="en-US" sz="1800" dirty="0">
              <a:latin typeface="Times New Roman"/>
              <a:cs typeface="Times New Roman"/>
            </a:endParaRPr>
          </a:p>
          <a:p>
            <a:pPr marL="456565" indent="-456565">
              <a:lnSpc>
                <a:spcPct val="100000"/>
              </a:lnSpc>
              <a:buAutoNum type="arabicPeriod"/>
              <a:tabLst>
                <a:tab pos="456565" algn="l"/>
                <a:tab pos="457200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Robustness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2DAC3-C6F1-3967-38E7-EAAA6634AF34}"/>
              </a:ext>
            </a:extLst>
          </p:cNvPr>
          <p:cNvSpPr txBox="1"/>
          <p:nvPr/>
        </p:nvSpPr>
        <p:spPr>
          <a:xfrm>
            <a:off x="4362774" y="340963"/>
            <a:ext cx="4572000" cy="2956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  <a:tabLst>
                <a:tab pos="356870" algn="l"/>
                <a:tab pos="357505" algn="l"/>
              </a:tabLst>
            </a:pPr>
            <a:r>
              <a:rPr lang="en-US" sz="1800" b="1" spc="-5" dirty="0">
                <a:latin typeface="Times New Roman"/>
                <a:cs typeface="Times New Roman"/>
              </a:rPr>
              <a:t>FORCED</a:t>
            </a:r>
            <a:r>
              <a:rPr lang="en-US" sz="1800" b="1" spc="-55" dirty="0">
                <a:latin typeface="Times New Roman"/>
                <a:cs typeface="Times New Roman"/>
              </a:rPr>
              <a:t> </a:t>
            </a:r>
            <a:r>
              <a:rPr lang="en-US" sz="1800" b="1" spc="-20" dirty="0">
                <a:latin typeface="Times New Roman"/>
                <a:cs typeface="Times New Roman"/>
              </a:rPr>
              <a:t>DEGRADATION </a:t>
            </a:r>
            <a:r>
              <a:rPr lang="en-US" sz="1800" b="1" spc="-5" dirty="0">
                <a:latin typeface="Times New Roman"/>
                <a:cs typeface="Times New Roman"/>
              </a:rPr>
              <a:t>STUDIES</a:t>
            </a:r>
            <a:endParaRPr lang="en-US" sz="1800" dirty="0">
              <a:latin typeface="Times New Roman"/>
              <a:cs typeface="Times New Roman"/>
            </a:endParaRPr>
          </a:p>
          <a:p>
            <a:pPr marL="469900" indent="-457834">
              <a:lnSpc>
                <a:spcPct val="15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lang="en-US" sz="1800" spc="-15" dirty="0">
                <a:latin typeface="Times New Roman"/>
                <a:cs typeface="Times New Roman"/>
              </a:rPr>
              <a:t>Acid</a:t>
            </a:r>
            <a:endParaRPr lang="en-US" sz="1800" dirty="0">
              <a:latin typeface="Times New Roman"/>
              <a:cs typeface="Times New Roman"/>
            </a:endParaRPr>
          </a:p>
          <a:p>
            <a:pPr marL="469900" indent="-457834">
              <a:lnSpc>
                <a:spcPct val="15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lang="en-US" sz="1800" spc="-5" dirty="0">
                <a:latin typeface="Times New Roman"/>
                <a:cs typeface="Times New Roman"/>
              </a:rPr>
              <a:t>Base</a:t>
            </a:r>
            <a:endParaRPr lang="en-US" sz="1800" dirty="0">
              <a:latin typeface="Times New Roman"/>
              <a:cs typeface="Times New Roman"/>
            </a:endParaRPr>
          </a:p>
          <a:p>
            <a:pPr marL="469900" indent="-457834">
              <a:lnSpc>
                <a:spcPct val="150000"/>
              </a:lnSpc>
              <a:spcBef>
                <a:spcPts val="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lang="en-US" sz="1800" dirty="0">
                <a:latin typeface="Times New Roman"/>
                <a:cs typeface="Times New Roman"/>
              </a:rPr>
              <a:t>Peroxide</a:t>
            </a:r>
          </a:p>
          <a:p>
            <a:pPr marL="469900" indent="-457834">
              <a:lnSpc>
                <a:spcPct val="15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lang="en-US" sz="1800" spc="-10" dirty="0">
                <a:latin typeface="Times New Roman"/>
                <a:cs typeface="Times New Roman"/>
              </a:rPr>
              <a:t>Thermal</a:t>
            </a:r>
            <a:endParaRPr lang="en-US" sz="1800" dirty="0">
              <a:latin typeface="Times New Roman"/>
              <a:cs typeface="Times New Roman"/>
            </a:endParaRPr>
          </a:p>
          <a:p>
            <a:pPr marL="469900" indent="-457834">
              <a:lnSpc>
                <a:spcPct val="15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lang="en-US" sz="1800" spc="-10" dirty="0">
                <a:latin typeface="Times New Roman"/>
                <a:cs typeface="Times New Roman"/>
              </a:rPr>
              <a:t>UV</a:t>
            </a:r>
            <a:endParaRPr lang="en-US" sz="1800" dirty="0">
              <a:latin typeface="Times New Roman"/>
              <a:cs typeface="Times New Roman"/>
            </a:endParaRPr>
          </a:p>
          <a:p>
            <a:pPr marL="469900" indent="-457834">
              <a:lnSpc>
                <a:spcPct val="150000"/>
              </a:lnSpc>
              <a:buAutoNum type="arabicPeriod"/>
              <a:tabLst>
                <a:tab pos="469900" algn="l"/>
                <a:tab pos="470534" algn="l"/>
              </a:tabLst>
            </a:pPr>
            <a:r>
              <a:rPr lang="en-US" sz="1800" spc="-35" dirty="0">
                <a:latin typeface="Times New Roman"/>
                <a:cs typeface="Times New Roman"/>
              </a:rPr>
              <a:t>Water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156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C4EF6-1B72-754B-BFF7-29E350B1C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23986"/>
            <a:ext cx="7886700" cy="557051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CHROMATOGRAPHIC CONDITIONS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AA827-85DF-6153-B240-A436DFF83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81036"/>
            <a:ext cx="7886700" cy="6052977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Trial 1: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phase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Acetonitrile;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Water</a:t>
            </a:r>
            <a:r>
              <a:rPr lang="en-US" sz="18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(50:50)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rate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used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Kromosil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18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250mm</a:t>
            </a:r>
            <a:r>
              <a:rPr lang="en-US" sz="18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4.6mm, 5µ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 vol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µL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Observation:</a:t>
            </a:r>
            <a:r>
              <a:rPr lang="en-US" sz="2000" b="1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trail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peak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shape</a:t>
            </a:r>
            <a:r>
              <a:rPr lang="en-US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</a:t>
            </a:r>
            <a:r>
              <a:rPr lang="en-US" sz="18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 &amp; tailing was observed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</a:t>
            </a:r>
            <a:r>
              <a:rPr lang="en-US" sz="1800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further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trial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 carried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30.png">
            <a:extLst>
              <a:ext uri="{FF2B5EF4-FFF2-40B4-BE49-F238E27FC236}">
                <a16:creationId xmlns:a16="http://schemas.microsoft.com/office/drawing/2014/main" id="{B7253D0A-5241-C9FB-BAC9-06484881DD7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72340" y="2645782"/>
            <a:ext cx="6028840" cy="268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54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A79B6-E570-7BD7-3566-2A2BC8E26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9966"/>
            <a:ext cx="7886700" cy="630781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Trial 2: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phase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Methanol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;Water</a:t>
            </a:r>
            <a:r>
              <a:rPr lang="en-US" sz="18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(60:40)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rate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used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Kromosil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18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250mm</a:t>
            </a:r>
            <a:r>
              <a:rPr lang="en-US" sz="18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4.6mm, 5µ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 vol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µL</a:t>
            </a:r>
          </a:p>
          <a:p>
            <a:pPr marL="605790" marR="662940">
              <a:lnSpc>
                <a:spcPct val="157000"/>
              </a:lnSpc>
              <a:spcBef>
                <a:spcPts val="450"/>
              </a:spcBef>
              <a:spcAft>
                <a:spcPts val="0"/>
              </a:spcAft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05790" marR="662940">
              <a:lnSpc>
                <a:spcPct val="157000"/>
              </a:lnSpc>
              <a:spcBef>
                <a:spcPts val="450"/>
              </a:spcBef>
              <a:spcAft>
                <a:spcPts val="0"/>
              </a:spcAft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05790" marR="662940">
              <a:lnSpc>
                <a:spcPct val="157000"/>
              </a:lnSpc>
              <a:spcBef>
                <a:spcPts val="450"/>
              </a:spcBef>
              <a:spcAft>
                <a:spcPts val="0"/>
              </a:spcAft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05790" marR="662940">
              <a:lnSpc>
                <a:spcPct val="157000"/>
              </a:lnSpc>
              <a:spcBef>
                <a:spcPts val="450"/>
              </a:spcBef>
              <a:spcAft>
                <a:spcPts val="0"/>
              </a:spcAft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05790" marR="662940">
              <a:lnSpc>
                <a:spcPct val="157000"/>
              </a:lnSpc>
              <a:spcBef>
                <a:spcPts val="450"/>
              </a:spcBef>
              <a:spcAft>
                <a:spcPts val="0"/>
              </a:spcAft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7190" marR="662940" indent="0">
              <a:lnSpc>
                <a:spcPct val="157000"/>
              </a:lnSpc>
              <a:spcBef>
                <a:spcPts val="450"/>
              </a:spcBef>
              <a:spcAft>
                <a:spcPts val="0"/>
              </a:spcAft>
              <a:buNone/>
            </a:pP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662940" indent="0">
              <a:lnSpc>
                <a:spcPct val="157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Observation:</a:t>
            </a:r>
            <a:r>
              <a:rPr lang="en-US" sz="18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trail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peak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shape was</a:t>
            </a:r>
            <a:r>
              <a:rPr lang="en-US" sz="1800" spc="1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</a:t>
            </a:r>
            <a:r>
              <a:rPr lang="en-US" sz="1800" spc="2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good,</a:t>
            </a:r>
            <a:r>
              <a:rPr lang="en-US" sz="1800" spc="2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</a:t>
            </a:r>
            <a:r>
              <a:rPr lang="en-US" sz="1800" spc="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further</a:t>
            </a:r>
            <a:r>
              <a:rPr lang="en-US" sz="1800" spc="2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trial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carried</a:t>
            </a:r>
            <a:r>
              <a:rPr lang="en-US" sz="1800" spc="2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out.</a:t>
            </a: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31.png">
            <a:extLst>
              <a:ext uri="{FF2B5EF4-FFF2-40B4-BE49-F238E27FC236}">
                <a16:creationId xmlns:a16="http://schemas.microsoft.com/office/drawing/2014/main" id="{C0967790-90FD-12D2-7717-C70E52EE95C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60147" y="2297775"/>
            <a:ext cx="6194538" cy="278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4456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68C4F-2D46-ABE1-F670-FF3ABEB91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0963"/>
            <a:ext cx="7886700" cy="6199322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Trial 3: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phase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Methanol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Kh2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(70:30)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rate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used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Kromosil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18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250mm</a:t>
            </a:r>
            <a:r>
              <a:rPr lang="en-US" sz="18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4.6mm, 5µ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 vol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µL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Observation:</a:t>
            </a:r>
            <a:r>
              <a:rPr lang="en-US" sz="1800" b="1" spc="1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trail</a:t>
            </a:r>
            <a:r>
              <a:rPr lang="en-US" sz="1800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retention</a:t>
            </a:r>
            <a:r>
              <a:rPr lang="en-US" sz="1800" spc="1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</a:t>
            </a:r>
            <a:r>
              <a:rPr lang="en-US" sz="1800" spc="2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observed,</a:t>
            </a:r>
            <a:r>
              <a:rPr lang="en-US" sz="1800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but</a:t>
            </a:r>
            <a:r>
              <a:rPr lang="en-US" sz="1800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peak</a:t>
            </a:r>
            <a:r>
              <a:rPr lang="en-US" sz="1800" spc="19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splitting</a:t>
            </a:r>
            <a:r>
              <a:rPr lang="en-US" sz="1800" spc="2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observed.</a:t>
            </a:r>
            <a:r>
              <a:rPr lang="en-US" sz="1800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</a:t>
            </a:r>
            <a:r>
              <a:rPr lang="en-US" sz="18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further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trial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 carried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out.</a:t>
            </a: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32.png">
            <a:extLst>
              <a:ext uri="{FF2B5EF4-FFF2-40B4-BE49-F238E27FC236}">
                <a16:creationId xmlns:a16="http://schemas.microsoft.com/office/drawing/2014/main" id="{70B8D981-423F-38E2-1B5B-9069890F081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5364" y="2265709"/>
            <a:ext cx="6772758" cy="272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4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F3825-BF57-27F3-3BC3-5FE002303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2474"/>
            <a:ext cx="7886700" cy="6354305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chromatographic condition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phase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Methanol: 0.1% orthophosphoric acid (70:30)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rate  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used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Kromosil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sz="18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250mm</a:t>
            </a:r>
            <a:r>
              <a:rPr lang="en-US" sz="1800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 4.6mm, 5µ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 vol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 µL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Observation:</a:t>
            </a:r>
            <a:r>
              <a:rPr lang="en-US" sz="18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suitability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parameters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within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range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&amp; sa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tisfactory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 per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ICH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guidelines.</a:t>
            </a:r>
          </a:p>
          <a:p>
            <a:pPr marL="0" indent="0"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33.png">
            <a:extLst>
              <a:ext uri="{FF2B5EF4-FFF2-40B4-BE49-F238E27FC236}">
                <a16:creationId xmlns:a16="http://schemas.microsoft.com/office/drawing/2014/main" id="{DEA33CC4-4FE5-FF9D-9777-FC87EA4614D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01857" y="2247253"/>
            <a:ext cx="6493789" cy="28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122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F179-DAB8-EC69-6303-E64833DC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681037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7349E-FC1F-236E-CFEC-512B17FB0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681036"/>
            <a:ext cx="7886700" cy="5843749"/>
          </a:xfrm>
        </p:spPr>
        <p:txBody>
          <a:bodyPr/>
          <a:lstStyle/>
          <a:p>
            <a:pPr marL="376238" marR="0" indent="-376238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ASSAY</a:t>
            </a:r>
            <a:r>
              <a:rPr lang="en-US" sz="1800" b="1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MARKETED</a:t>
            </a:r>
            <a:r>
              <a:rPr lang="en-US" sz="1800" b="1" spc="2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FORMULATION</a:t>
            </a: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algn="just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Standard solution and sample solution were injected separately into the system 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chromatograms were recorded and drug present in sample was calculated using before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mentioned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formula. And chromatogram was shown in (Fig. 6.28, 6.29)</a:t>
            </a:r>
          </a:p>
          <a:p>
            <a:pPr marL="0" marR="0" indent="0">
              <a:spcBef>
                <a:spcPts val="35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AAA555-5541-B3BC-6C4A-00A8EC636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497829"/>
              </p:ext>
            </p:extLst>
          </p:nvPr>
        </p:nvGraphicFramePr>
        <p:xfrm>
          <a:off x="2115518" y="2574291"/>
          <a:ext cx="4912963" cy="395049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{69CF1AB2-1976-4502-BF36-3FF5EA218861}</a:tableStyleId>
              </a:tblPr>
              <a:tblGrid>
                <a:gridCol w="2233074">
                  <a:extLst>
                    <a:ext uri="{9D8B030D-6E8A-4147-A177-3AD203B41FA5}">
                      <a16:colId xmlns:a16="http://schemas.microsoft.com/office/drawing/2014/main" val="2475762650"/>
                    </a:ext>
                  </a:extLst>
                </a:gridCol>
                <a:gridCol w="2679889">
                  <a:extLst>
                    <a:ext uri="{9D8B030D-6E8A-4147-A177-3AD203B41FA5}">
                      <a16:colId xmlns:a16="http://schemas.microsoft.com/office/drawing/2014/main" val="2484715299"/>
                    </a:ext>
                  </a:extLst>
                </a:gridCol>
              </a:tblGrid>
              <a:tr h="390102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</a:t>
                      </a:r>
                      <a:r>
                        <a:rPr lang="en-US" sz="16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%Assay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14631609"/>
                  </a:ext>
                </a:extLst>
              </a:tr>
              <a:tr h="406357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0246660"/>
                  </a:ext>
                </a:extLst>
              </a:tr>
              <a:tr h="389396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93685809"/>
                  </a:ext>
                </a:extLst>
              </a:tr>
              <a:tr h="390102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101.2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30435707"/>
                  </a:ext>
                </a:extLst>
              </a:tr>
              <a:tr h="406357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78977995"/>
                  </a:ext>
                </a:extLst>
              </a:tr>
              <a:tr h="389396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74501887"/>
                  </a:ext>
                </a:extLst>
              </a:tr>
              <a:tr h="390102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70805770"/>
                  </a:ext>
                </a:extLst>
              </a:tr>
              <a:tr h="406357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100.15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1495648"/>
                  </a:ext>
                </a:extLst>
              </a:tr>
              <a:tr h="389396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STDEV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47891788"/>
                  </a:ext>
                </a:extLst>
              </a:tr>
              <a:tr h="392929"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%RSD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735963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3032DD4-8CDE-D634-B57B-572DCC3C7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91" y="2068692"/>
            <a:ext cx="480611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3767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382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alt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Assay of Formulation</a:t>
            </a:r>
          </a:p>
          <a:p>
            <a:pPr marL="0" marR="0" lvl="0" indent="382588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625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83.png">
            <a:extLst>
              <a:ext uri="{FF2B5EF4-FFF2-40B4-BE49-F238E27FC236}">
                <a16:creationId xmlns:a16="http://schemas.microsoft.com/office/drawing/2014/main" id="{608A7050-C795-C444-EAA4-2CF676B4A4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96176" y="203994"/>
            <a:ext cx="7886700" cy="26288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6088B9-EE34-EC40-9199-0AEE414FD910}"/>
              </a:ext>
            </a:extLst>
          </p:cNvPr>
          <p:cNvSpPr txBox="1"/>
          <p:nvPr/>
        </p:nvSpPr>
        <p:spPr>
          <a:xfrm>
            <a:off x="2286000" y="283289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4045" marR="661035" algn="ctr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Standard</a:t>
            </a:r>
            <a:r>
              <a:rPr lang="en-US" sz="1800" b="1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image40.png">
            <a:extLst>
              <a:ext uri="{FF2B5EF4-FFF2-40B4-BE49-F238E27FC236}">
                <a16:creationId xmlns:a16="http://schemas.microsoft.com/office/drawing/2014/main" id="{6B68A37A-4BCC-47C0-AE12-CE19704AD7A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6176" y="3429000"/>
            <a:ext cx="7886700" cy="26841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EE8E8C-9B89-5187-9316-F8BD2E66F2C2}"/>
              </a:ext>
            </a:extLst>
          </p:cNvPr>
          <p:cNvSpPr txBox="1"/>
          <p:nvPr/>
        </p:nvSpPr>
        <p:spPr>
          <a:xfrm>
            <a:off x="960896" y="6339920"/>
            <a:ext cx="719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4045" marR="661035" algn="ctr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Sample</a:t>
            </a:r>
            <a:r>
              <a:rPr lang="en-US" sz="1800" b="1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917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1116F-3037-F1FD-9188-A046F23AC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47972"/>
            <a:ext cx="7886700" cy="6431797"/>
          </a:xfrm>
        </p:spPr>
        <p:txBody>
          <a:bodyPr/>
          <a:lstStyle/>
          <a:p>
            <a:pPr marL="165100" marR="0" indent="-165100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en-US" sz="1800" b="1" kern="0" spc="2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SUITABILITY PARAMETERS</a:t>
            </a:r>
          </a:p>
          <a:p>
            <a:pPr marL="0" marR="0" indent="0" algn="just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1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Standard</a:t>
            </a:r>
            <a:r>
              <a:rPr lang="en-US" sz="18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</a:t>
            </a:r>
            <a:r>
              <a:rPr lang="en-US" sz="1800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r>
              <a:rPr lang="en-US" sz="18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working</a:t>
            </a:r>
            <a:r>
              <a:rPr lang="en-US" sz="1800" spc="1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standard</a:t>
            </a:r>
            <a:r>
              <a:rPr lang="en-US" sz="18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8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prepared</a:t>
            </a:r>
            <a:r>
              <a:rPr lang="en-US" sz="18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en-US" sz="1800" spc="1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</a:t>
            </a:r>
            <a:r>
              <a:rPr lang="en-US" sz="18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procedure</a:t>
            </a:r>
            <a:r>
              <a:rPr lang="en-US" sz="1800" spc="-3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was injected five times into the HPLC system. The system suitability parameters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 evaluated from standard Chromatograms obtained by calculating the % RSD of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retention time, tailing factor, theoretical plates and peak areas from five replicate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injections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within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range</a:t>
            </a:r>
            <a:r>
              <a:rPr lang="en-US" sz="1800" spc="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F20368-0D14-34BC-570A-3F399028A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3126428"/>
              </p:ext>
            </p:extLst>
          </p:nvPr>
        </p:nvGraphicFramePr>
        <p:xfrm>
          <a:off x="1828800" y="2076773"/>
          <a:ext cx="5284922" cy="421553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{69CF1AB2-1976-4502-BF36-3FF5EA218861}</a:tableStyleId>
              </a:tblPr>
              <a:tblGrid>
                <a:gridCol w="1067956">
                  <a:extLst>
                    <a:ext uri="{9D8B030D-6E8A-4147-A177-3AD203B41FA5}">
                      <a16:colId xmlns:a16="http://schemas.microsoft.com/office/drawing/2014/main" val="503923986"/>
                    </a:ext>
                  </a:extLst>
                </a:gridCol>
                <a:gridCol w="1405266">
                  <a:extLst>
                    <a:ext uri="{9D8B030D-6E8A-4147-A177-3AD203B41FA5}">
                      <a16:colId xmlns:a16="http://schemas.microsoft.com/office/drawing/2014/main" val="4129555053"/>
                    </a:ext>
                  </a:extLst>
                </a:gridCol>
                <a:gridCol w="1573338">
                  <a:extLst>
                    <a:ext uri="{9D8B030D-6E8A-4147-A177-3AD203B41FA5}">
                      <a16:colId xmlns:a16="http://schemas.microsoft.com/office/drawing/2014/main" val="1924108795"/>
                    </a:ext>
                  </a:extLst>
                </a:gridCol>
                <a:gridCol w="1238362">
                  <a:extLst>
                    <a:ext uri="{9D8B030D-6E8A-4147-A177-3AD203B41FA5}">
                      <a16:colId xmlns:a16="http://schemas.microsoft.com/office/drawing/2014/main" val="3103396687"/>
                    </a:ext>
                  </a:extLst>
                </a:gridCol>
              </a:tblGrid>
              <a:tr h="499720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800" spc="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gridSpan="3">
                  <a:txBody>
                    <a:bodyPr/>
                    <a:lstStyle/>
                    <a:p>
                      <a:pPr marL="69850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TEPOTINIB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751825"/>
                  </a:ext>
                </a:extLst>
              </a:tr>
              <a:tr h="842204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1015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Inj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101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 (min)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4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marL="69215" marR="59055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3725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USP </a:t>
                      </a:r>
                      <a:r>
                        <a:rPr lang="en-US" sz="18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Plate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9215" marR="59055" algn="ctr">
                        <a:lnSpc>
                          <a:spcPct val="7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93725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1015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Tailing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3464892"/>
                  </a:ext>
                </a:extLst>
              </a:tr>
              <a:tr h="543096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1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4027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1.29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87287239"/>
                  </a:ext>
                </a:extLst>
              </a:tr>
              <a:tr h="468995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2.431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4022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1.29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41537039"/>
                  </a:ext>
                </a:extLst>
              </a:tr>
              <a:tr h="472610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4136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1.28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7775453"/>
                  </a:ext>
                </a:extLst>
              </a:tr>
              <a:tr h="468995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1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1.28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76120155"/>
                  </a:ext>
                </a:extLst>
              </a:tr>
              <a:tr h="450922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2.439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3909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1.33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6895590"/>
                  </a:ext>
                </a:extLst>
              </a:tr>
              <a:tr h="468995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1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2.441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4005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1.32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0629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778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34.jpeg">
            <a:extLst>
              <a:ext uri="{FF2B5EF4-FFF2-40B4-BE49-F238E27FC236}">
                <a16:creationId xmlns:a16="http://schemas.microsoft.com/office/drawing/2014/main" id="{678BF43A-729D-B368-24EE-94ADB753B22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986" y="123987"/>
            <a:ext cx="4014061" cy="3564610"/>
          </a:xfrm>
          <a:prstGeom prst="rect">
            <a:avLst/>
          </a:prstGeom>
        </p:spPr>
      </p:pic>
      <p:pic>
        <p:nvPicPr>
          <p:cNvPr id="5" name="image35.jpeg">
            <a:extLst>
              <a:ext uri="{FF2B5EF4-FFF2-40B4-BE49-F238E27FC236}">
                <a16:creationId xmlns:a16="http://schemas.microsoft.com/office/drawing/2014/main" id="{04B830BF-EBC3-A29F-4486-7270EBEAB80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986" y="3828081"/>
            <a:ext cx="4014061" cy="1766807"/>
          </a:xfrm>
          <a:prstGeom prst="rect">
            <a:avLst/>
          </a:prstGeom>
        </p:spPr>
      </p:pic>
      <p:pic>
        <p:nvPicPr>
          <p:cNvPr id="6" name="image36.jpeg">
            <a:extLst>
              <a:ext uri="{FF2B5EF4-FFF2-40B4-BE49-F238E27FC236}">
                <a16:creationId xmlns:a16="http://schemas.microsoft.com/office/drawing/2014/main" id="{F39539E6-A592-CE1B-5D45-5CDADC969D0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463512" y="123987"/>
            <a:ext cx="4277532" cy="3564610"/>
          </a:xfrm>
          <a:prstGeom prst="rect">
            <a:avLst/>
          </a:prstGeom>
        </p:spPr>
      </p:pic>
      <p:pic>
        <p:nvPicPr>
          <p:cNvPr id="7" name="image37.png">
            <a:extLst>
              <a:ext uri="{FF2B5EF4-FFF2-40B4-BE49-F238E27FC236}">
                <a16:creationId xmlns:a16="http://schemas.microsoft.com/office/drawing/2014/main" id="{A40115A3-3EA9-D815-4D14-F2CC1F1499B5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463512" y="3828081"/>
            <a:ext cx="4277532" cy="17668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F5316C-56CF-66BB-1609-E43B7DE2736B}"/>
              </a:ext>
            </a:extLst>
          </p:cNvPr>
          <p:cNvSpPr txBox="1"/>
          <p:nvPr/>
        </p:nvSpPr>
        <p:spPr>
          <a:xfrm>
            <a:off x="2712203" y="5734372"/>
            <a:ext cx="40140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en-US" sz="2000" b="1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suitability</a:t>
            </a:r>
            <a:r>
              <a:rPr lang="en-US" sz="2000" b="1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83349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84437-22D9-F0D1-B012-03E4E0203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015" y="309966"/>
            <a:ext cx="8841969" cy="6307810"/>
          </a:xfrm>
        </p:spPr>
        <p:txBody>
          <a:bodyPr/>
          <a:lstStyle/>
          <a:p>
            <a:pPr marL="547688" marR="0" indent="-547688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ACCURACY</a:t>
            </a:r>
          </a:p>
          <a:p>
            <a:pPr marL="0" marR="0" indent="279400">
              <a:lnSpc>
                <a:spcPct val="150000"/>
              </a:lnSpc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Three</a:t>
            </a:r>
            <a:r>
              <a:rPr lang="en-US" sz="1800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Concentrations</a:t>
            </a:r>
            <a:r>
              <a:rPr lang="en-US" sz="18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50%,</a:t>
            </a:r>
            <a:r>
              <a:rPr lang="en-US" sz="1800" spc="1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100%,</a:t>
            </a:r>
            <a:r>
              <a:rPr lang="en-US" sz="1800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150%</a:t>
            </a:r>
            <a:r>
              <a:rPr lang="en-US" sz="1800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sz="18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Injected</a:t>
            </a:r>
            <a:r>
              <a:rPr lang="en-US" sz="1800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triplicate</a:t>
            </a:r>
            <a:r>
              <a:rPr lang="en-US" sz="1800" spc="1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manner</a:t>
            </a:r>
            <a:r>
              <a:rPr lang="en-US" sz="1800" spc="1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% Recovery was</a:t>
            </a:r>
            <a:r>
              <a:rPr lang="en-US" sz="1800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calculated</a:t>
            </a:r>
            <a:r>
              <a:rPr lang="en-US" sz="1800" spc="1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en-US" sz="1800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100.25</a:t>
            </a:r>
            <a:r>
              <a:rPr lang="en-US" sz="1800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%.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63.png">
            <a:extLst>
              <a:ext uri="{FF2B5EF4-FFF2-40B4-BE49-F238E27FC236}">
                <a16:creationId xmlns:a16="http://schemas.microsoft.com/office/drawing/2014/main" id="{08FDFB08-ABCA-CFFB-0D7B-482CF42692B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-1039" b="50520"/>
          <a:stretch/>
        </p:blipFill>
        <p:spPr>
          <a:xfrm>
            <a:off x="151016" y="1937289"/>
            <a:ext cx="4420983" cy="2665708"/>
          </a:xfrm>
          <a:prstGeom prst="rect">
            <a:avLst/>
          </a:prstGeom>
        </p:spPr>
      </p:pic>
      <p:pic>
        <p:nvPicPr>
          <p:cNvPr id="5" name="image65.png">
            <a:extLst>
              <a:ext uri="{FF2B5EF4-FFF2-40B4-BE49-F238E27FC236}">
                <a16:creationId xmlns:a16="http://schemas.microsoft.com/office/drawing/2014/main" id="{D6D62611-32C4-6ED5-BD92-B58D819E5DF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1998" y="1937288"/>
            <a:ext cx="4572001" cy="2665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EC9150-5BC9-40D4-0FEB-FB74965AB202}"/>
              </a:ext>
            </a:extLst>
          </p:cNvPr>
          <p:cNvSpPr txBox="1"/>
          <p:nvPr/>
        </p:nvSpPr>
        <p:spPr>
          <a:xfrm>
            <a:off x="945397" y="4602997"/>
            <a:ext cx="30531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 50% chromatogram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E4B02-A7B5-DE84-35BC-3384F901A713}"/>
              </a:ext>
            </a:extLst>
          </p:cNvPr>
          <p:cNvSpPr txBox="1"/>
          <p:nvPr/>
        </p:nvSpPr>
        <p:spPr>
          <a:xfrm>
            <a:off x="5346915" y="4631367"/>
            <a:ext cx="3168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100% chromatogram</a:t>
            </a:r>
          </a:p>
        </p:txBody>
      </p:sp>
    </p:spTree>
    <p:extLst>
      <p:ext uri="{BB962C8B-B14F-4D97-AF65-F5344CB8AC3E}">
        <p14:creationId xmlns:p14="http://schemas.microsoft.com/office/powerpoint/2010/main" val="2372397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E2860-7529-7757-84C1-15420DA1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25464"/>
            <a:ext cx="7886700" cy="6028841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150%chromatogram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76E87B5-352E-2D7C-778E-1089C8412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343142"/>
              </p:ext>
            </p:extLst>
          </p:nvPr>
        </p:nvGraphicFramePr>
        <p:xfrm>
          <a:off x="1565329" y="3339884"/>
          <a:ext cx="6075335" cy="2332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263">
                  <a:extLst>
                    <a:ext uri="{9D8B030D-6E8A-4147-A177-3AD203B41FA5}">
                      <a16:colId xmlns:a16="http://schemas.microsoft.com/office/drawing/2014/main" val="2117475946"/>
                    </a:ext>
                  </a:extLst>
                </a:gridCol>
                <a:gridCol w="994991">
                  <a:extLst>
                    <a:ext uri="{9D8B030D-6E8A-4147-A177-3AD203B41FA5}">
                      <a16:colId xmlns:a16="http://schemas.microsoft.com/office/drawing/2014/main" val="1096585638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67076612"/>
                    </a:ext>
                  </a:extLst>
                </a:gridCol>
                <a:gridCol w="1614923">
                  <a:extLst>
                    <a:ext uri="{9D8B030D-6E8A-4147-A177-3AD203B41FA5}">
                      <a16:colId xmlns:a16="http://schemas.microsoft.com/office/drawing/2014/main" val="2097372922"/>
                    </a:ext>
                  </a:extLst>
                </a:gridCol>
                <a:gridCol w="1066283">
                  <a:extLst>
                    <a:ext uri="{9D8B030D-6E8A-4147-A177-3AD203B41FA5}">
                      <a16:colId xmlns:a16="http://schemas.microsoft.com/office/drawing/2014/main" val="797607629"/>
                    </a:ext>
                  </a:extLst>
                </a:gridCol>
              </a:tblGrid>
              <a:tr h="10522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Amount spiked (µg 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Amount recovered(µg/mL)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%Recovery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 % Recovery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854665"/>
                  </a:ext>
                </a:extLst>
              </a:tr>
              <a:tr h="4267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22.779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101.24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022739"/>
                  </a:ext>
                </a:extLst>
              </a:tr>
              <a:tr h="4267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44.509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98.91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990229"/>
                  </a:ext>
                </a:extLst>
              </a:tr>
              <a:tr h="4267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99.52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889446"/>
                  </a:ext>
                </a:extLst>
              </a:tr>
            </a:tbl>
          </a:graphicData>
        </a:graphic>
      </p:graphicFrame>
      <p:pic>
        <p:nvPicPr>
          <p:cNvPr id="12" name="image67.png">
            <a:extLst>
              <a:ext uri="{FF2B5EF4-FFF2-40B4-BE49-F238E27FC236}">
                <a16:creationId xmlns:a16="http://schemas.microsoft.com/office/drawing/2014/main" id="{FAE9001C-917E-AA41-49D9-A405298A27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t="-1820" b="50000"/>
          <a:stretch/>
        </p:blipFill>
        <p:spPr>
          <a:xfrm>
            <a:off x="1179286" y="147233"/>
            <a:ext cx="6647358" cy="26579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D058E4-594D-EADA-AB9E-04BB9CADA56D}"/>
              </a:ext>
            </a:extLst>
          </p:cNvPr>
          <p:cNvSpPr txBox="1"/>
          <p:nvPr/>
        </p:nvSpPr>
        <p:spPr>
          <a:xfrm>
            <a:off x="3812584" y="5650555"/>
            <a:ext cx="3270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data</a:t>
            </a:r>
          </a:p>
        </p:txBody>
      </p:sp>
    </p:spTree>
    <p:extLst>
      <p:ext uri="{BB962C8B-B14F-4D97-AF65-F5344CB8AC3E}">
        <p14:creationId xmlns:p14="http://schemas.microsoft.com/office/powerpoint/2010/main" val="4114610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F5FEA-600A-BDCF-AA1F-A6EC40287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49" y="216976"/>
            <a:ext cx="8462075" cy="6400800"/>
          </a:xfrm>
        </p:spPr>
        <p:txBody>
          <a:bodyPr/>
          <a:lstStyle/>
          <a:p>
            <a:pPr marL="166370" marR="0" indent="0">
              <a:spcBef>
                <a:spcPts val="665"/>
              </a:spcBef>
              <a:spcAft>
                <a:spcPts val="0"/>
              </a:spcAft>
              <a:buNone/>
            </a:pPr>
            <a:r>
              <a:rPr lang="en-US" sz="2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PRECISION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7190" marR="66294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Repeatability: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Six working sample solutions are injected and the % Amount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found was</a:t>
            </a:r>
            <a:r>
              <a:rPr lang="en-US" sz="18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calculated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%RSD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found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0.2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377190" marR="66294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Repeatability data for tepotinib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7FA9F9-6844-9CC0-4F34-9F6DDF171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564927"/>
              </p:ext>
            </p:extLst>
          </p:nvPr>
        </p:nvGraphicFramePr>
        <p:xfrm>
          <a:off x="1805553" y="1937288"/>
          <a:ext cx="5532894" cy="44945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706478">
                  <a:extLst>
                    <a:ext uri="{9D8B030D-6E8A-4147-A177-3AD203B41FA5}">
                      <a16:colId xmlns:a16="http://schemas.microsoft.com/office/drawing/2014/main" val="2413760172"/>
                    </a:ext>
                  </a:extLst>
                </a:gridCol>
                <a:gridCol w="2826416">
                  <a:extLst>
                    <a:ext uri="{9D8B030D-6E8A-4147-A177-3AD203B41FA5}">
                      <a16:colId xmlns:a16="http://schemas.microsoft.com/office/drawing/2014/main" val="2820507810"/>
                    </a:ext>
                  </a:extLst>
                </a:gridCol>
              </a:tblGrid>
              <a:tr h="545193">
                <a:tc>
                  <a:txBody>
                    <a:bodyPr/>
                    <a:lstStyle/>
                    <a:p>
                      <a:pPr marL="792480" marR="504825" indent="-163830" algn="ctr">
                        <a:lnSpc>
                          <a:spcPts val="13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00100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</a:t>
                      </a:r>
                      <a:r>
                        <a:rPr lang="en-US" sz="1800" spc="-8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65327690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254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946274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920298"/>
                  </a:ext>
                </a:extLst>
              </a:tr>
              <a:tr h="432676">
                <a:tc>
                  <a:txBody>
                    <a:bodyPr/>
                    <a:lstStyle/>
                    <a:p>
                      <a:pPr marL="254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946451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2262798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254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958451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0378958"/>
                  </a:ext>
                </a:extLst>
              </a:tr>
              <a:tr h="444950">
                <a:tc>
                  <a:txBody>
                    <a:bodyPr/>
                    <a:lstStyle/>
                    <a:p>
                      <a:pPr marL="254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946271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90024816"/>
                  </a:ext>
                </a:extLst>
              </a:tr>
              <a:tr h="450065">
                <a:tc>
                  <a:txBody>
                    <a:bodyPr/>
                    <a:lstStyle/>
                    <a:p>
                      <a:pPr marL="254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948534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77648845"/>
                  </a:ext>
                </a:extLst>
              </a:tr>
              <a:tr h="444950">
                <a:tc>
                  <a:txBody>
                    <a:bodyPr/>
                    <a:lstStyle/>
                    <a:p>
                      <a:pPr marL="254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946392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1171134"/>
                  </a:ext>
                </a:extLst>
              </a:tr>
              <a:tr h="369257">
                <a:tc>
                  <a:txBody>
                    <a:bodyPr/>
                    <a:lstStyle/>
                    <a:p>
                      <a:pPr marL="621665" marR="0" algn="l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A</a:t>
                      </a:r>
                      <a:r>
                        <a:rPr lang="en-US" sz="1800" spc="-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948729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56246951"/>
                  </a:ext>
                </a:extLst>
              </a:tr>
              <a:tr h="444950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STDEV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4843.0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63153052"/>
                  </a:ext>
                </a:extLst>
              </a:tr>
              <a:tr h="462339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%RSD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90699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30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0.png">
            <a:extLst>
              <a:ext uri="{FF2B5EF4-FFF2-40B4-BE49-F238E27FC236}">
                <a16:creationId xmlns:a16="http://schemas.microsoft.com/office/drawing/2014/main" id="{DB8E7BE8-829E-9DD7-C640-1396AE9042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9563" y="348555"/>
            <a:ext cx="4262437" cy="1790211"/>
          </a:xfrm>
          <a:prstGeom prst="rect">
            <a:avLst/>
          </a:prstGeom>
        </p:spPr>
      </p:pic>
      <p:pic>
        <p:nvPicPr>
          <p:cNvPr id="5" name="image41.png">
            <a:extLst>
              <a:ext uri="{FF2B5EF4-FFF2-40B4-BE49-F238E27FC236}">
                <a16:creationId xmlns:a16="http://schemas.microsoft.com/office/drawing/2014/main" id="{7D0576AE-CB49-6510-6619-17C6240F971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9563" y="2382766"/>
            <a:ext cx="4262437" cy="1790212"/>
          </a:xfrm>
          <a:prstGeom prst="rect">
            <a:avLst/>
          </a:prstGeom>
        </p:spPr>
      </p:pic>
      <p:pic>
        <p:nvPicPr>
          <p:cNvPr id="6" name="image42.png">
            <a:extLst>
              <a:ext uri="{FF2B5EF4-FFF2-40B4-BE49-F238E27FC236}">
                <a16:creationId xmlns:a16="http://schemas.microsoft.com/office/drawing/2014/main" id="{30D3341F-E4CC-19CD-28B5-05685E698ADD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199" y="4416978"/>
            <a:ext cx="4375802" cy="2092467"/>
          </a:xfrm>
          <a:prstGeom prst="rect">
            <a:avLst/>
          </a:prstGeom>
        </p:spPr>
      </p:pic>
      <p:pic>
        <p:nvPicPr>
          <p:cNvPr id="7" name="image43.png">
            <a:extLst>
              <a:ext uri="{FF2B5EF4-FFF2-40B4-BE49-F238E27FC236}">
                <a16:creationId xmlns:a16="http://schemas.microsoft.com/office/drawing/2014/main" id="{10EC58D9-BA8F-0A91-127B-3F073D5589C5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2000" y="348555"/>
            <a:ext cx="4380564" cy="1790211"/>
          </a:xfrm>
          <a:prstGeom prst="rect">
            <a:avLst/>
          </a:prstGeom>
        </p:spPr>
      </p:pic>
      <p:pic>
        <p:nvPicPr>
          <p:cNvPr id="9" name="image45.png">
            <a:extLst>
              <a:ext uri="{FF2B5EF4-FFF2-40B4-BE49-F238E27FC236}">
                <a16:creationId xmlns:a16="http://schemas.microsoft.com/office/drawing/2014/main" id="{93A950D2-B144-14AF-8141-EFB7C2D59856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0" y="4416978"/>
            <a:ext cx="4375801" cy="2092467"/>
          </a:xfrm>
          <a:prstGeom prst="rect">
            <a:avLst/>
          </a:prstGeom>
        </p:spPr>
      </p:pic>
      <p:pic>
        <p:nvPicPr>
          <p:cNvPr id="10" name="image44.png">
            <a:extLst>
              <a:ext uri="{FF2B5EF4-FFF2-40B4-BE49-F238E27FC236}">
                <a16:creationId xmlns:a16="http://schemas.microsoft.com/office/drawing/2014/main" id="{B6B6AEBE-10B0-7BDE-B0C3-319294D61D38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572000" y="2382766"/>
            <a:ext cx="4375801" cy="1790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D856B3F-41BF-7699-E8F4-BCF3F0482649}"/>
              </a:ext>
            </a:extLst>
          </p:cNvPr>
          <p:cNvSpPr txBox="1"/>
          <p:nvPr/>
        </p:nvSpPr>
        <p:spPr>
          <a:xfrm>
            <a:off x="2440781" y="-2077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4045" marR="736600" algn="ctr">
              <a:spcBef>
                <a:spcPts val="450"/>
              </a:spcBef>
              <a:spcAft>
                <a:spcPts val="0"/>
              </a:spcAft>
            </a:pPr>
            <a:r>
              <a:rPr lang="en-US" sz="1800" b="1" spc="35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Repeatability</a:t>
            </a:r>
            <a:r>
              <a:rPr lang="en-US" sz="1800" b="1" spc="15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982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F6DAA-DBEF-09E2-C641-F161ED811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808"/>
            <a:ext cx="7886700" cy="6465968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INTERMEDIATE PRECISION: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six working sample solutions are injected on the next day of</a:t>
            </a:r>
            <a:r>
              <a:rPr lang="en-US" sz="1800" spc="-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preparation of samples and the % Amount found was calculated and %RSD was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found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0.6</a:t>
            </a:r>
            <a:r>
              <a:rPr lang="en-US" sz="180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precision data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48634C-25FC-5293-EB6C-4B3EAFC7F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90909"/>
              </p:ext>
            </p:extLst>
          </p:nvPr>
        </p:nvGraphicFramePr>
        <p:xfrm>
          <a:off x="2525020" y="2238980"/>
          <a:ext cx="4386020" cy="413759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231755">
                  <a:extLst>
                    <a:ext uri="{9D8B030D-6E8A-4147-A177-3AD203B41FA5}">
                      <a16:colId xmlns:a16="http://schemas.microsoft.com/office/drawing/2014/main" val="3480232010"/>
                    </a:ext>
                  </a:extLst>
                </a:gridCol>
                <a:gridCol w="2154265">
                  <a:extLst>
                    <a:ext uri="{9D8B030D-6E8A-4147-A177-3AD203B41FA5}">
                      <a16:colId xmlns:a16="http://schemas.microsoft.com/office/drawing/2014/main" val="227763431"/>
                    </a:ext>
                  </a:extLst>
                </a:gridCol>
              </a:tblGrid>
              <a:tr h="463634">
                <a:tc>
                  <a:txBody>
                    <a:bodyPr/>
                    <a:lstStyle/>
                    <a:p>
                      <a:pPr marL="664845" marR="717550" algn="ctr">
                        <a:lnSpc>
                          <a:spcPts val="134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338455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7300" algn="l"/>
                        </a:tabLs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Peak Area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61010792"/>
                  </a:ext>
                </a:extLst>
              </a:tr>
              <a:tr h="383835">
                <a:tc>
                  <a:txBody>
                    <a:bodyPr/>
                    <a:lstStyle/>
                    <a:p>
                      <a:pPr marL="0" marR="41275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56235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908201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3888491"/>
                  </a:ext>
                </a:extLst>
              </a:tr>
              <a:tr h="379844">
                <a:tc>
                  <a:txBody>
                    <a:bodyPr/>
                    <a:lstStyle/>
                    <a:p>
                      <a:pPr marL="0" marR="41275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56235" marR="0" algn="ctr">
                        <a:lnSpc>
                          <a:spcPts val="13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909522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0897066"/>
                  </a:ext>
                </a:extLst>
              </a:tr>
              <a:tr h="383835">
                <a:tc>
                  <a:txBody>
                    <a:bodyPr/>
                    <a:lstStyle/>
                    <a:p>
                      <a:pPr marL="0" marR="41275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5623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903452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49208257"/>
                  </a:ext>
                </a:extLst>
              </a:tr>
              <a:tr h="380642">
                <a:tc>
                  <a:txBody>
                    <a:bodyPr/>
                    <a:lstStyle/>
                    <a:p>
                      <a:pPr marL="0" marR="41275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56235" marR="0" algn="ctr">
                        <a:lnSpc>
                          <a:spcPts val="13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904407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58701856"/>
                  </a:ext>
                </a:extLst>
              </a:tr>
              <a:tr h="375057">
                <a:tc>
                  <a:txBody>
                    <a:bodyPr/>
                    <a:lstStyle/>
                    <a:p>
                      <a:pPr marL="0" marR="41275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907175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78930641"/>
                  </a:ext>
                </a:extLst>
              </a:tr>
              <a:tr h="387824">
                <a:tc>
                  <a:txBody>
                    <a:bodyPr/>
                    <a:lstStyle/>
                    <a:p>
                      <a:pPr marL="0" marR="41275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56235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913312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00718244"/>
                  </a:ext>
                </a:extLst>
              </a:tr>
              <a:tr h="458047">
                <a:tc>
                  <a:txBody>
                    <a:bodyPr/>
                    <a:lstStyle/>
                    <a:p>
                      <a:pPr marL="655320" marR="748665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56235" marR="0" algn="ctr">
                        <a:lnSpc>
                          <a:spcPts val="13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907678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95962"/>
                  </a:ext>
                </a:extLst>
              </a:tr>
              <a:tr h="465230">
                <a:tc>
                  <a:txBody>
                    <a:bodyPr/>
                    <a:lstStyle/>
                    <a:p>
                      <a:pPr marL="0" marR="654685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STD</a:t>
                      </a:r>
                      <a:r>
                        <a:rPr lang="en-US" sz="1600" spc="-8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56235" marR="0" algn="ctr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3584.1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4198038"/>
                  </a:ext>
                </a:extLst>
              </a:tr>
              <a:tr h="459643">
                <a:tc>
                  <a:txBody>
                    <a:bodyPr/>
                    <a:lstStyle/>
                    <a:p>
                      <a:pPr marL="0" marR="694055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%RSD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9306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0.4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1450972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7629B6F-4997-F15D-9305-6AC4A956A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439" y="2352031"/>
            <a:ext cx="47265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257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257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257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257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257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257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257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257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257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257300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51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6.png">
            <a:extLst>
              <a:ext uri="{FF2B5EF4-FFF2-40B4-BE49-F238E27FC236}">
                <a16:creationId xmlns:a16="http://schemas.microsoft.com/office/drawing/2014/main" id="{8FFE03AD-1F1C-C4C1-01F5-A36E0E07F6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0481" y="557938"/>
            <a:ext cx="4401519" cy="1846473"/>
          </a:xfrm>
          <a:prstGeom prst="rect">
            <a:avLst/>
          </a:prstGeom>
        </p:spPr>
      </p:pic>
      <p:pic>
        <p:nvPicPr>
          <p:cNvPr id="5" name="image47.png">
            <a:extLst>
              <a:ext uri="{FF2B5EF4-FFF2-40B4-BE49-F238E27FC236}">
                <a16:creationId xmlns:a16="http://schemas.microsoft.com/office/drawing/2014/main" id="{B6077A80-518B-AC8E-DB9E-43618FB1648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0481" y="2603714"/>
            <a:ext cx="4401519" cy="1846473"/>
          </a:xfrm>
          <a:prstGeom prst="rect">
            <a:avLst/>
          </a:prstGeom>
        </p:spPr>
      </p:pic>
      <p:pic>
        <p:nvPicPr>
          <p:cNvPr id="6" name="image48.png">
            <a:extLst>
              <a:ext uri="{FF2B5EF4-FFF2-40B4-BE49-F238E27FC236}">
                <a16:creationId xmlns:a16="http://schemas.microsoft.com/office/drawing/2014/main" id="{E2DCBE15-D9C5-37CC-0CB9-F793BAD91333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2000" y="557939"/>
            <a:ext cx="4401519" cy="3892249"/>
          </a:xfrm>
          <a:prstGeom prst="rect">
            <a:avLst/>
          </a:prstGeom>
        </p:spPr>
      </p:pic>
      <p:pic>
        <p:nvPicPr>
          <p:cNvPr id="7" name="image49.png">
            <a:extLst>
              <a:ext uri="{FF2B5EF4-FFF2-40B4-BE49-F238E27FC236}">
                <a16:creationId xmlns:a16="http://schemas.microsoft.com/office/drawing/2014/main" id="{36A741AE-8A6F-609B-50D0-2B2A524C683A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" y="4641742"/>
            <a:ext cx="4572000" cy="2216258"/>
          </a:xfrm>
          <a:prstGeom prst="rect">
            <a:avLst/>
          </a:prstGeom>
        </p:spPr>
      </p:pic>
      <p:pic>
        <p:nvPicPr>
          <p:cNvPr id="8" name="image50.png">
            <a:extLst>
              <a:ext uri="{FF2B5EF4-FFF2-40B4-BE49-F238E27FC236}">
                <a16:creationId xmlns:a16="http://schemas.microsoft.com/office/drawing/2014/main" id="{E396B51C-DC0D-0272-573B-3F6224D30497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572000" y="4641742"/>
            <a:ext cx="4401519" cy="2216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B37E21-FA15-CA79-FCC3-276D44CA2F51}"/>
              </a:ext>
            </a:extLst>
          </p:cNvPr>
          <p:cNvSpPr txBox="1"/>
          <p:nvPr/>
        </p:nvSpPr>
        <p:spPr>
          <a:xfrm>
            <a:off x="2688956" y="8895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Intermediate</a:t>
            </a:r>
            <a:r>
              <a:rPr lang="en-US" sz="18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precision</a:t>
            </a:r>
            <a:r>
              <a:rPr lang="en-US" sz="18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951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EC858-3121-1FC8-E486-D6BF15840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99780"/>
            <a:ext cx="7886700" cy="6326484"/>
          </a:xfrm>
        </p:spPr>
        <p:txBody>
          <a:bodyPr/>
          <a:lstStyle/>
          <a:p>
            <a:pPr marL="604838" marR="0" indent="-496888">
              <a:spcBef>
                <a:spcPts val="66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LINEARITY: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07950" marR="737870" indent="496888" algn="just">
              <a:lnSpc>
                <a:spcPct val="155000"/>
              </a:lnSpc>
              <a:spcBef>
                <a:spcPts val="66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demonstrate the linearity of assay method, inject 6 standard solutions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concentrations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about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ppm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30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ppm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Tepotinib.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graph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concentration versus peak area. Slope obtained was 46421 Y-Intercept was 1052 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Correlation Co-efficient was found to be 0.999.</a:t>
            </a:r>
            <a:endParaRPr lang="en-US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6DDA54-C29B-66B0-81E0-0AD955AE1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917822"/>
              </p:ext>
            </p:extLst>
          </p:nvPr>
        </p:nvGraphicFramePr>
        <p:xfrm>
          <a:off x="1728061" y="3239080"/>
          <a:ext cx="5687878" cy="327020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1857614">
                  <a:extLst>
                    <a:ext uri="{9D8B030D-6E8A-4147-A177-3AD203B41FA5}">
                      <a16:colId xmlns:a16="http://schemas.microsoft.com/office/drawing/2014/main" val="2962103253"/>
                    </a:ext>
                  </a:extLst>
                </a:gridCol>
                <a:gridCol w="2101177">
                  <a:extLst>
                    <a:ext uri="{9D8B030D-6E8A-4147-A177-3AD203B41FA5}">
                      <a16:colId xmlns:a16="http://schemas.microsoft.com/office/drawing/2014/main" val="636744177"/>
                    </a:ext>
                  </a:extLst>
                </a:gridCol>
                <a:gridCol w="1729087">
                  <a:extLst>
                    <a:ext uri="{9D8B030D-6E8A-4147-A177-3AD203B41FA5}">
                      <a16:colId xmlns:a16="http://schemas.microsoft.com/office/drawing/2014/main" val="3439285884"/>
                    </a:ext>
                  </a:extLst>
                </a:gridCol>
              </a:tblGrid>
              <a:tr h="409114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Linearity</a:t>
                      </a: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</a:t>
                      </a:r>
                      <a:r>
                        <a:rPr lang="en-US" sz="1600" spc="-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(%)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Concentration</a:t>
                      </a: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(ppm)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5929334"/>
                  </a:ext>
                </a:extLst>
              </a:tr>
              <a:tr h="414534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3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22215294"/>
                  </a:ext>
                </a:extLst>
              </a:tr>
              <a:tr h="414534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11.25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234558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82201598"/>
                  </a:ext>
                </a:extLst>
              </a:tr>
              <a:tr h="409114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467396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1064214"/>
                  </a:ext>
                </a:extLst>
              </a:tr>
              <a:tr h="404599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33.75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692740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8785925"/>
                  </a:ext>
                </a:extLst>
              </a:tr>
              <a:tr h="404599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927364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51958127"/>
                  </a:ext>
                </a:extLst>
              </a:tr>
              <a:tr h="409114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1125501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3509603"/>
                  </a:ext>
                </a:extLst>
              </a:tr>
              <a:tr h="404599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6675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1333315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07398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E4B66B-4D27-DEA2-E2B1-6ECD5DDEA824}"/>
              </a:ext>
            </a:extLst>
          </p:cNvPr>
          <p:cNvSpPr txBox="1"/>
          <p:nvPr/>
        </p:nvSpPr>
        <p:spPr>
          <a:xfrm>
            <a:off x="821410" y="2631560"/>
            <a:ext cx="5827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9275" marR="0" algn="just">
              <a:spcBef>
                <a:spcPts val="735"/>
              </a:spcBef>
              <a:spcAft>
                <a:spcPts val="0"/>
              </a:spcAft>
            </a:pP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Linearity</a:t>
            </a:r>
            <a: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Concentration</a:t>
            </a:r>
            <a:r>
              <a:rPr lang="en-US" sz="1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b="1" kern="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Response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038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51.png">
            <a:extLst>
              <a:ext uri="{FF2B5EF4-FFF2-40B4-BE49-F238E27FC236}">
                <a16:creationId xmlns:a16="http://schemas.microsoft.com/office/drawing/2014/main" id="{169C6AD8-4F39-F31B-9087-E7E0C611C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" y="476306"/>
            <a:ext cx="4572000" cy="21429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B974DC-F36D-03F4-B2A3-29AD9F0B16C4}"/>
              </a:ext>
            </a:extLst>
          </p:cNvPr>
          <p:cNvSpPr txBox="1"/>
          <p:nvPr/>
        </p:nvSpPr>
        <p:spPr>
          <a:xfrm>
            <a:off x="0" y="2619214"/>
            <a:ext cx="4773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89965" marR="0">
              <a:spcBef>
                <a:spcPts val="45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Linearity</a:t>
            </a:r>
            <a:r>
              <a:rPr lang="en-US" sz="1600" b="1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25%</a:t>
            </a:r>
            <a:r>
              <a:rPr lang="en-US" sz="16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6" name="image53.png">
            <a:extLst>
              <a:ext uri="{FF2B5EF4-FFF2-40B4-BE49-F238E27FC236}">
                <a16:creationId xmlns:a16="http://schemas.microsoft.com/office/drawing/2014/main" id="{BA894561-504D-58A2-FC69-22E7CD2201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50000"/>
          <a:stretch/>
        </p:blipFill>
        <p:spPr>
          <a:xfrm>
            <a:off x="4572000" y="476306"/>
            <a:ext cx="4571999" cy="23133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5685A8-2F61-66B0-D5BB-8E42749C34A0}"/>
              </a:ext>
            </a:extLst>
          </p:cNvPr>
          <p:cNvSpPr txBox="1"/>
          <p:nvPr/>
        </p:nvSpPr>
        <p:spPr>
          <a:xfrm rot="10800000" flipV="1">
            <a:off x="4404908" y="2620418"/>
            <a:ext cx="4327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89965" marR="0">
              <a:spcBef>
                <a:spcPts val="45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Linearity</a:t>
            </a:r>
            <a:r>
              <a:rPr lang="en-US" sz="1600" b="1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50%</a:t>
            </a:r>
            <a:r>
              <a:rPr lang="en-US" sz="16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image54.png">
            <a:extLst>
              <a:ext uri="{FF2B5EF4-FFF2-40B4-BE49-F238E27FC236}">
                <a16:creationId xmlns:a16="http://schemas.microsoft.com/office/drawing/2014/main" id="{5A87F404-B44B-B00B-93F8-21BA511845C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b="49527"/>
          <a:stretch/>
        </p:blipFill>
        <p:spPr>
          <a:xfrm>
            <a:off x="0" y="3080879"/>
            <a:ext cx="4572000" cy="2313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37177F-48DF-9AE7-F8DB-5195C7FF50A4}"/>
              </a:ext>
            </a:extLst>
          </p:cNvPr>
          <p:cNvSpPr txBox="1"/>
          <p:nvPr/>
        </p:nvSpPr>
        <p:spPr>
          <a:xfrm>
            <a:off x="170481" y="5394268"/>
            <a:ext cx="3890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89965" marR="0">
              <a:spcBef>
                <a:spcPts val="450"/>
              </a:spcBef>
              <a:spcAft>
                <a:spcPts val="0"/>
              </a:spcAft>
            </a:pP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Linearity</a:t>
            </a:r>
            <a:r>
              <a:rPr lang="en-US" sz="1600" b="1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7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5%</a:t>
            </a:r>
            <a:r>
              <a:rPr lang="en-US" sz="16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image55.png">
            <a:extLst>
              <a:ext uri="{FF2B5EF4-FFF2-40B4-BE49-F238E27FC236}">
                <a16:creationId xmlns:a16="http://schemas.microsoft.com/office/drawing/2014/main" id="{E6E473E3-D8E5-C8CD-46DE-9CD9C489ACCA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571999" y="3098095"/>
            <a:ext cx="4572000" cy="21868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5D8BA0-F55D-1DA8-73AD-DC34C679DB55}"/>
              </a:ext>
            </a:extLst>
          </p:cNvPr>
          <p:cNvSpPr txBox="1"/>
          <p:nvPr/>
        </p:nvSpPr>
        <p:spPr>
          <a:xfrm>
            <a:off x="5548396" y="5394268"/>
            <a:ext cx="342512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Linearity</a:t>
            </a:r>
            <a:r>
              <a:rPr lang="en-US" sz="1600" b="1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spc="25" dirty="0"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0%</a:t>
            </a:r>
            <a:r>
              <a:rPr lang="en-US" sz="16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9419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57.png">
            <a:extLst>
              <a:ext uri="{FF2B5EF4-FFF2-40B4-BE49-F238E27FC236}">
                <a16:creationId xmlns:a16="http://schemas.microsoft.com/office/drawing/2014/main" id="{7F0A523D-5B9A-1422-01FC-4EDCBC1F9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b="50321"/>
          <a:stretch/>
        </p:blipFill>
        <p:spPr>
          <a:xfrm>
            <a:off x="54244" y="360401"/>
            <a:ext cx="4463512" cy="25377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C3CF99-309A-EDB5-B0E5-015CDD7EE5F6}"/>
              </a:ext>
            </a:extLst>
          </p:cNvPr>
          <p:cNvSpPr txBox="1"/>
          <p:nvPr/>
        </p:nvSpPr>
        <p:spPr>
          <a:xfrm>
            <a:off x="0" y="2898183"/>
            <a:ext cx="427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89965" marR="0">
              <a:spcBef>
                <a:spcPts val="45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Linearity</a:t>
            </a:r>
            <a:r>
              <a:rPr lang="en-US" sz="1800" b="1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25%</a:t>
            </a:r>
            <a:r>
              <a:rPr lang="en-US" sz="18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image58.png">
            <a:extLst>
              <a:ext uri="{FF2B5EF4-FFF2-40B4-BE49-F238E27FC236}">
                <a16:creationId xmlns:a16="http://schemas.microsoft.com/office/drawing/2014/main" id="{844E0D09-0D46-C576-5287-4057588AE2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50000"/>
          <a:stretch/>
        </p:blipFill>
        <p:spPr>
          <a:xfrm>
            <a:off x="4572000" y="360401"/>
            <a:ext cx="4572000" cy="25377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03D55F-6314-FDD7-031E-E607512B9AC0}"/>
              </a:ext>
            </a:extLst>
          </p:cNvPr>
          <p:cNvSpPr txBox="1"/>
          <p:nvPr/>
        </p:nvSpPr>
        <p:spPr>
          <a:xfrm>
            <a:off x="4572000" y="2898183"/>
            <a:ext cx="4463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89965" marR="0">
              <a:spcBef>
                <a:spcPts val="45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Linearity</a:t>
            </a:r>
            <a:r>
              <a:rPr lang="en-US" sz="1800" b="1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50%</a:t>
            </a:r>
            <a:r>
              <a:rPr lang="en-US" sz="1800" b="1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3" name="Rectangle 46">
            <a:extLst>
              <a:ext uri="{FF2B5EF4-FFF2-40B4-BE49-F238E27FC236}">
                <a16:creationId xmlns:a16="http://schemas.microsoft.com/office/drawing/2014/main" id="{A1CA33C7-4CEA-D702-06A6-0C6BCE015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24" name="Group 27">
            <a:extLst>
              <a:ext uri="{FF2B5EF4-FFF2-40B4-BE49-F238E27FC236}">
                <a16:creationId xmlns:a16="http://schemas.microsoft.com/office/drawing/2014/main" id="{37A9A658-7A37-82B1-EF77-213D71B97910}"/>
              </a:ext>
            </a:extLst>
          </p:cNvPr>
          <p:cNvGrpSpPr>
            <a:grpSpLocks/>
          </p:cNvGrpSpPr>
          <p:nvPr/>
        </p:nvGrpSpPr>
        <p:grpSpPr bwMode="auto">
          <a:xfrm>
            <a:off x="2014779" y="3267515"/>
            <a:ext cx="5439905" cy="2635963"/>
            <a:chOff x="2947" y="158"/>
            <a:chExt cx="6485" cy="3688"/>
          </a:xfrm>
        </p:grpSpPr>
        <p:sp>
          <p:nvSpPr>
            <p:cNvPr id="25" name="AutoShape 45">
              <a:extLst>
                <a:ext uri="{FF2B5EF4-FFF2-40B4-BE49-F238E27FC236}">
                  <a16:creationId xmlns:a16="http://schemas.microsoft.com/office/drawing/2014/main" id="{9FA67667-CE63-E671-1179-E34706FD1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4" y="1049"/>
              <a:ext cx="3196" cy="2409"/>
            </a:xfrm>
            <a:custGeom>
              <a:avLst/>
              <a:gdLst>
                <a:gd name="T0" fmla="+- 0 4313 4244"/>
                <a:gd name="T1" fmla="*/ T0 w 3196"/>
                <a:gd name="T2" fmla="+- 0 3394 1049"/>
                <a:gd name="T3" fmla="*/ 3394 h 2409"/>
                <a:gd name="T4" fmla="+- 0 4313 4244"/>
                <a:gd name="T5" fmla="*/ T4 w 3196"/>
                <a:gd name="T6" fmla="+- 0 1049 1049"/>
                <a:gd name="T7" fmla="*/ 1049 h 2409"/>
                <a:gd name="T8" fmla="+- 0 4244 4244"/>
                <a:gd name="T9" fmla="*/ T8 w 3196"/>
                <a:gd name="T10" fmla="+- 0 3394 1049"/>
                <a:gd name="T11" fmla="*/ 3394 h 2409"/>
                <a:gd name="T12" fmla="+- 0 4313 4244"/>
                <a:gd name="T13" fmla="*/ T12 w 3196"/>
                <a:gd name="T14" fmla="+- 0 3394 1049"/>
                <a:gd name="T15" fmla="*/ 3394 h 2409"/>
                <a:gd name="T16" fmla="+- 0 4244 4244"/>
                <a:gd name="T17" fmla="*/ T16 w 3196"/>
                <a:gd name="T18" fmla="+- 0 3099 1049"/>
                <a:gd name="T19" fmla="*/ 3099 h 2409"/>
                <a:gd name="T20" fmla="+- 0 4313 4244"/>
                <a:gd name="T21" fmla="*/ T20 w 3196"/>
                <a:gd name="T22" fmla="+- 0 3099 1049"/>
                <a:gd name="T23" fmla="*/ 3099 h 2409"/>
                <a:gd name="T24" fmla="+- 0 4244 4244"/>
                <a:gd name="T25" fmla="*/ T24 w 3196"/>
                <a:gd name="T26" fmla="+- 0 2806 1049"/>
                <a:gd name="T27" fmla="*/ 2806 h 2409"/>
                <a:gd name="T28" fmla="+- 0 4313 4244"/>
                <a:gd name="T29" fmla="*/ T28 w 3196"/>
                <a:gd name="T30" fmla="+- 0 2806 1049"/>
                <a:gd name="T31" fmla="*/ 2806 h 2409"/>
                <a:gd name="T32" fmla="+- 0 4244 4244"/>
                <a:gd name="T33" fmla="*/ T32 w 3196"/>
                <a:gd name="T34" fmla="+- 0 2513 1049"/>
                <a:gd name="T35" fmla="*/ 2513 h 2409"/>
                <a:gd name="T36" fmla="+- 0 4313 4244"/>
                <a:gd name="T37" fmla="*/ T36 w 3196"/>
                <a:gd name="T38" fmla="+- 0 2513 1049"/>
                <a:gd name="T39" fmla="*/ 2513 h 2409"/>
                <a:gd name="T40" fmla="+- 0 4244 4244"/>
                <a:gd name="T41" fmla="*/ T40 w 3196"/>
                <a:gd name="T42" fmla="+- 0 2220 1049"/>
                <a:gd name="T43" fmla="*/ 2220 h 2409"/>
                <a:gd name="T44" fmla="+- 0 4313 4244"/>
                <a:gd name="T45" fmla="*/ T44 w 3196"/>
                <a:gd name="T46" fmla="+- 0 2220 1049"/>
                <a:gd name="T47" fmla="*/ 2220 h 2409"/>
                <a:gd name="T48" fmla="+- 0 4244 4244"/>
                <a:gd name="T49" fmla="*/ T48 w 3196"/>
                <a:gd name="T50" fmla="+- 0 1928 1049"/>
                <a:gd name="T51" fmla="*/ 1928 h 2409"/>
                <a:gd name="T52" fmla="+- 0 4313 4244"/>
                <a:gd name="T53" fmla="*/ T52 w 3196"/>
                <a:gd name="T54" fmla="+- 0 1928 1049"/>
                <a:gd name="T55" fmla="*/ 1928 h 2409"/>
                <a:gd name="T56" fmla="+- 0 4244 4244"/>
                <a:gd name="T57" fmla="*/ T56 w 3196"/>
                <a:gd name="T58" fmla="+- 0 1635 1049"/>
                <a:gd name="T59" fmla="*/ 1635 h 2409"/>
                <a:gd name="T60" fmla="+- 0 4313 4244"/>
                <a:gd name="T61" fmla="*/ T60 w 3196"/>
                <a:gd name="T62" fmla="+- 0 1635 1049"/>
                <a:gd name="T63" fmla="*/ 1635 h 2409"/>
                <a:gd name="T64" fmla="+- 0 4244 4244"/>
                <a:gd name="T65" fmla="*/ T64 w 3196"/>
                <a:gd name="T66" fmla="+- 0 1342 1049"/>
                <a:gd name="T67" fmla="*/ 1342 h 2409"/>
                <a:gd name="T68" fmla="+- 0 4313 4244"/>
                <a:gd name="T69" fmla="*/ T68 w 3196"/>
                <a:gd name="T70" fmla="+- 0 1342 1049"/>
                <a:gd name="T71" fmla="*/ 1342 h 2409"/>
                <a:gd name="T72" fmla="+- 0 4244 4244"/>
                <a:gd name="T73" fmla="*/ T72 w 3196"/>
                <a:gd name="T74" fmla="+- 0 1049 1049"/>
                <a:gd name="T75" fmla="*/ 1049 h 2409"/>
                <a:gd name="T76" fmla="+- 0 4313 4244"/>
                <a:gd name="T77" fmla="*/ T76 w 3196"/>
                <a:gd name="T78" fmla="+- 0 1049 1049"/>
                <a:gd name="T79" fmla="*/ 1049 h 2409"/>
                <a:gd name="T80" fmla="+- 0 4313 4244"/>
                <a:gd name="T81" fmla="*/ T80 w 3196"/>
                <a:gd name="T82" fmla="+- 0 3394 1049"/>
                <a:gd name="T83" fmla="*/ 3394 h 2409"/>
                <a:gd name="T84" fmla="+- 0 7440 4244"/>
                <a:gd name="T85" fmla="*/ T84 w 3196"/>
                <a:gd name="T86" fmla="+- 0 3394 1049"/>
                <a:gd name="T87" fmla="*/ 3394 h 2409"/>
                <a:gd name="T88" fmla="+- 0 4313 4244"/>
                <a:gd name="T89" fmla="*/ T88 w 3196"/>
                <a:gd name="T90" fmla="+- 0 3394 1049"/>
                <a:gd name="T91" fmla="*/ 3394 h 2409"/>
                <a:gd name="T92" fmla="+- 0 4313 4244"/>
                <a:gd name="T93" fmla="*/ T92 w 3196"/>
                <a:gd name="T94" fmla="+- 0 3458 1049"/>
                <a:gd name="T95" fmla="*/ 3458 h 2409"/>
                <a:gd name="T96" fmla="+- 0 5093 4244"/>
                <a:gd name="T97" fmla="*/ T96 w 3196"/>
                <a:gd name="T98" fmla="+- 0 3394 1049"/>
                <a:gd name="T99" fmla="*/ 3394 h 2409"/>
                <a:gd name="T100" fmla="+- 0 5093 4244"/>
                <a:gd name="T101" fmla="*/ T100 w 3196"/>
                <a:gd name="T102" fmla="+- 0 3458 1049"/>
                <a:gd name="T103" fmla="*/ 3458 h 2409"/>
                <a:gd name="T104" fmla="+- 0 5876 4244"/>
                <a:gd name="T105" fmla="*/ T104 w 3196"/>
                <a:gd name="T106" fmla="+- 0 3394 1049"/>
                <a:gd name="T107" fmla="*/ 3394 h 2409"/>
                <a:gd name="T108" fmla="+- 0 5876 4244"/>
                <a:gd name="T109" fmla="*/ T108 w 3196"/>
                <a:gd name="T110" fmla="+- 0 3458 1049"/>
                <a:gd name="T111" fmla="*/ 3458 h 2409"/>
                <a:gd name="T112" fmla="+- 0 6659 4244"/>
                <a:gd name="T113" fmla="*/ T112 w 3196"/>
                <a:gd name="T114" fmla="+- 0 3394 1049"/>
                <a:gd name="T115" fmla="*/ 3394 h 2409"/>
                <a:gd name="T116" fmla="+- 0 6659 4244"/>
                <a:gd name="T117" fmla="*/ T116 w 3196"/>
                <a:gd name="T118" fmla="+- 0 3458 1049"/>
                <a:gd name="T119" fmla="*/ 3458 h 2409"/>
                <a:gd name="T120" fmla="+- 0 7440 4244"/>
                <a:gd name="T121" fmla="*/ T120 w 3196"/>
                <a:gd name="T122" fmla="+- 0 3394 1049"/>
                <a:gd name="T123" fmla="*/ 3394 h 2409"/>
                <a:gd name="T124" fmla="+- 0 7440 4244"/>
                <a:gd name="T125" fmla="*/ T124 w 3196"/>
                <a:gd name="T126" fmla="+- 0 3458 1049"/>
                <a:gd name="T127" fmla="*/ 3458 h 240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  <a:cxn ang="0">
                  <a:pos x="T21" y="T23"/>
                </a:cxn>
                <a:cxn ang="0">
                  <a:pos x="T25" y="T27"/>
                </a:cxn>
                <a:cxn ang="0">
                  <a:pos x="T29" y="T31"/>
                </a:cxn>
                <a:cxn ang="0">
                  <a:pos x="T33" y="T35"/>
                </a:cxn>
                <a:cxn ang="0">
                  <a:pos x="T37" y="T39"/>
                </a:cxn>
                <a:cxn ang="0">
                  <a:pos x="T41" y="T43"/>
                </a:cxn>
                <a:cxn ang="0">
                  <a:pos x="T45" y="T47"/>
                </a:cxn>
                <a:cxn ang="0">
                  <a:pos x="T49" y="T51"/>
                </a:cxn>
                <a:cxn ang="0">
                  <a:pos x="T53" y="T55"/>
                </a:cxn>
                <a:cxn ang="0">
                  <a:pos x="T57" y="T59"/>
                </a:cxn>
                <a:cxn ang="0">
                  <a:pos x="T61" y="T63"/>
                </a:cxn>
                <a:cxn ang="0">
                  <a:pos x="T65" y="T67"/>
                </a:cxn>
                <a:cxn ang="0">
                  <a:pos x="T69" y="T71"/>
                </a:cxn>
                <a:cxn ang="0">
                  <a:pos x="T73" y="T75"/>
                </a:cxn>
                <a:cxn ang="0">
                  <a:pos x="T77" y="T79"/>
                </a:cxn>
                <a:cxn ang="0">
                  <a:pos x="T81" y="T83"/>
                </a:cxn>
                <a:cxn ang="0">
                  <a:pos x="T85" y="T87"/>
                </a:cxn>
                <a:cxn ang="0">
                  <a:pos x="T89" y="T91"/>
                </a:cxn>
                <a:cxn ang="0">
                  <a:pos x="T93" y="T95"/>
                </a:cxn>
                <a:cxn ang="0">
                  <a:pos x="T97" y="T99"/>
                </a:cxn>
                <a:cxn ang="0">
                  <a:pos x="T101" y="T103"/>
                </a:cxn>
                <a:cxn ang="0">
                  <a:pos x="T105" y="T107"/>
                </a:cxn>
                <a:cxn ang="0">
                  <a:pos x="T109" y="T111"/>
                </a:cxn>
                <a:cxn ang="0">
                  <a:pos x="T113" y="T115"/>
                </a:cxn>
                <a:cxn ang="0">
                  <a:pos x="T117" y="T119"/>
                </a:cxn>
                <a:cxn ang="0">
                  <a:pos x="T121" y="T123"/>
                </a:cxn>
                <a:cxn ang="0">
                  <a:pos x="T125" y="T127"/>
                </a:cxn>
              </a:cxnLst>
              <a:rect l="0" t="0" r="r" b="b"/>
              <a:pathLst>
                <a:path w="3196" h="2409">
                  <a:moveTo>
                    <a:pt x="69" y="2345"/>
                  </a:moveTo>
                  <a:lnTo>
                    <a:pt x="69" y="0"/>
                  </a:lnTo>
                  <a:moveTo>
                    <a:pt x="0" y="2345"/>
                  </a:moveTo>
                  <a:lnTo>
                    <a:pt x="69" y="2345"/>
                  </a:lnTo>
                  <a:moveTo>
                    <a:pt x="0" y="2050"/>
                  </a:moveTo>
                  <a:lnTo>
                    <a:pt x="69" y="2050"/>
                  </a:lnTo>
                  <a:moveTo>
                    <a:pt x="0" y="1757"/>
                  </a:moveTo>
                  <a:lnTo>
                    <a:pt x="69" y="1757"/>
                  </a:lnTo>
                  <a:moveTo>
                    <a:pt x="0" y="1464"/>
                  </a:moveTo>
                  <a:lnTo>
                    <a:pt x="69" y="1464"/>
                  </a:lnTo>
                  <a:moveTo>
                    <a:pt x="0" y="1171"/>
                  </a:moveTo>
                  <a:lnTo>
                    <a:pt x="69" y="1171"/>
                  </a:lnTo>
                  <a:moveTo>
                    <a:pt x="0" y="879"/>
                  </a:moveTo>
                  <a:lnTo>
                    <a:pt x="69" y="879"/>
                  </a:lnTo>
                  <a:moveTo>
                    <a:pt x="0" y="586"/>
                  </a:moveTo>
                  <a:lnTo>
                    <a:pt x="69" y="586"/>
                  </a:lnTo>
                  <a:moveTo>
                    <a:pt x="0" y="293"/>
                  </a:moveTo>
                  <a:lnTo>
                    <a:pt x="69" y="293"/>
                  </a:lnTo>
                  <a:moveTo>
                    <a:pt x="0" y="0"/>
                  </a:moveTo>
                  <a:lnTo>
                    <a:pt x="69" y="0"/>
                  </a:lnTo>
                  <a:moveTo>
                    <a:pt x="69" y="2345"/>
                  </a:moveTo>
                  <a:lnTo>
                    <a:pt x="3196" y="2345"/>
                  </a:lnTo>
                  <a:moveTo>
                    <a:pt x="69" y="2345"/>
                  </a:moveTo>
                  <a:lnTo>
                    <a:pt x="69" y="2409"/>
                  </a:lnTo>
                  <a:moveTo>
                    <a:pt x="849" y="2345"/>
                  </a:moveTo>
                  <a:lnTo>
                    <a:pt x="849" y="2409"/>
                  </a:lnTo>
                  <a:moveTo>
                    <a:pt x="1632" y="2345"/>
                  </a:moveTo>
                  <a:lnTo>
                    <a:pt x="1632" y="2409"/>
                  </a:lnTo>
                  <a:moveTo>
                    <a:pt x="2415" y="2345"/>
                  </a:moveTo>
                  <a:lnTo>
                    <a:pt x="2415" y="2409"/>
                  </a:lnTo>
                  <a:moveTo>
                    <a:pt x="3196" y="2345"/>
                  </a:moveTo>
                  <a:lnTo>
                    <a:pt x="3196" y="2409"/>
                  </a:lnTo>
                </a:path>
              </a:pathLst>
            </a:custGeom>
            <a:noFill/>
            <a:ln w="6350">
              <a:solidFill>
                <a:srgbClr val="858585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44">
              <a:extLst>
                <a:ext uri="{FF2B5EF4-FFF2-40B4-BE49-F238E27FC236}">
                  <a16:creationId xmlns:a16="http://schemas.microsoft.com/office/drawing/2014/main" id="{F371B131-B9FA-36BE-01A0-3EB70E156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" y="3328"/>
              <a:ext cx="146" cy="135"/>
            </a:xfrm>
            <a:custGeom>
              <a:avLst/>
              <a:gdLst>
                <a:gd name="T0" fmla="+- 0 4316 4243"/>
                <a:gd name="T1" fmla="*/ T0 w 146"/>
                <a:gd name="T2" fmla="+- 0 3328 3328"/>
                <a:gd name="T3" fmla="*/ 3328 h 135"/>
                <a:gd name="T4" fmla="+- 0 4243 4243"/>
                <a:gd name="T5" fmla="*/ T4 w 146"/>
                <a:gd name="T6" fmla="+- 0 3395 3328"/>
                <a:gd name="T7" fmla="*/ 3395 h 135"/>
                <a:gd name="T8" fmla="+- 0 4316 4243"/>
                <a:gd name="T9" fmla="*/ T8 w 146"/>
                <a:gd name="T10" fmla="+- 0 3463 3328"/>
                <a:gd name="T11" fmla="*/ 3463 h 135"/>
                <a:gd name="T12" fmla="+- 0 4389 4243"/>
                <a:gd name="T13" fmla="*/ T12 w 146"/>
                <a:gd name="T14" fmla="+- 0 3395 3328"/>
                <a:gd name="T15" fmla="*/ 3395 h 135"/>
                <a:gd name="T16" fmla="+- 0 4316 4243"/>
                <a:gd name="T17" fmla="*/ T16 w 146"/>
                <a:gd name="T18" fmla="+- 0 3328 3328"/>
                <a:gd name="T19" fmla="*/ 3328 h 13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46" h="135">
                  <a:moveTo>
                    <a:pt x="73" y="0"/>
                  </a:moveTo>
                  <a:lnTo>
                    <a:pt x="0" y="67"/>
                  </a:lnTo>
                  <a:lnTo>
                    <a:pt x="73" y="135"/>
                  </a:lnTo>
                  <a:lnTo>
                    <a:pt x="146" y="6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446E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43">
              <a:extLst>
                <a:ext uri="{FF2B5EF4-FFF2-40B4-BE49-F238E27FC236}">
                  <a16:creationId xmlns:a16="http://schemas.microsoft.com/office/drawing/2014/main" id="{26F82852-1040-27C9-6B49-5C7237D0B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" y="3328"/>
              <a:ext cx="146" cy="135"/>
            </a:xfrm>
            <a:custGeom>
              <a:avLst/>
              <a:gdLst>
                <a:gd name="T0" fmla="+- 0 4316 4243"/>
                <a:gd name="T1" fmla="*/ T0 w 146"/>
                <a:gd name="T2" fmla="+- 0 3328 3328"/>
                <a:gd name="T3" fmla="*/ 3328 h 135"/>
                <a:gd name="T4" fmla="+- 0 4389 4243"/>
                <a:gd name="T5" fmla="*/ T4 w 146"/>
                <a:gd name="T6" fmla="+- 0 3395 3328"/>
                <a:gd name="T7" fmla="*/ 3395 h 135"/>
                <a:gd name="T8" fmla="+- 0 4316 4243"/>
                <a:gd name="T9" fmla="*/ T8 w 146"/>
                <a:gd name="T10" fmla="+- 0 3463 3328"/>
                <a:gd name="T11" fmla="*/ 3463 h 135"/>
                <a:gd name="T12" fmla="+- 0 4243 4243"/>
                <a:gd name="T13" fmla="*/ T12 w 146"/>
                <a:gd name="T14" fmla="+- 0 3395 3328"/>
                <a:gd name="T15" fmla="*/ 3395 h 135"/>
                <a:gd name="T16" fmla="+- 0 4316 4243"/>
                <a:gd name="T17" fmla="*/ T16 w 146"/>
                <a:gd name="T18" fmla="+- 0 3328 3328"/>
                <a:gd name="T19" fmla="*/ 3328 h 13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46" h="135">
                  <a:moveTo>
                    <a:pt x="73" y="0"/>
                  </a:moveTo>
                  <a:lnTo>
                    <a:pt x="146" y="67"/>
                  </a:lnTo>
                  <a:lnTo>
                    <a:pt x="73" y="135"/>
                  </a:lnTo>
                  <a:lnTo>
                    <a:pt x="0" y="67"/>
                  </a:lnTo>
                  <a:lnTo>
                    <a:pt x="73" y="0"/>
                  </a:lnTo>
                  <a:close/>
                </a:path>
              </a:pathLst>
            </a:custGeom>
            <a:noFill/>
            <a:ln w="6096">
              <a:solidFill>
                <a:srgbClr val="446EC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4138" name="Picture 42">
              <a:extLst>
                <a:ext uri="{FF2B5EF4-FFF2-40B4-BE49-F238E27FC236}">
                  <a16:creationId xmlns:a16="http://schemas.microsoft.com/office/drawing/2014/main" id="{47A5BE49-CA36-9387-AA23-4D9D0CC941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" y="2977"/>
              <a:ext cx="157" cy="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37" name="Picture 41">
              <a:extLst>
                <a:ext uri="{FF2B5EF4-FFF2-40B4-BE49-F238E27FC236}">
                  <a16:creationId xmlns:a16="http://schemas.microsoft.com/office/drawing/2014/main" id="{50EBC3C7-4171-B2BD-9679-9154D8A344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14" y="2636"/>
              <a:ext cx="157" cy="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36" name="Picture 40">
              <a:extLst>
                <a:ext uri="{FF2B5EF4-FFF2-40B4-BE49-F238E27FC236}">
                  <a16:creationId xmlns:a16="http://schemas.microsoft.com/office/drawing/2014/main" id="{7B21B802-0EA7-ADD0-B439-8BFA953CCA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52" y="2305"/>
              <a:ext cx="157" cy="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35" name="Picture 39">
              <a:extLst>
                <a:ext uri="{FF2B5EF4-FFF2-40B4-BE49-F238E27FC236}">
                  <a16:creationId xmlns:a16="http://schemas.microsoft.com/office/drawing/2014/main" id="{17D4D763-6EB2-B9FE-C100-FD75B17D8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1" y="1960"/>
              <a:ext cx="157" cy="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34" name="Picture 38">
              <a:extLst>
                <a:ext uri="{FF2B5EF4-FFF2-40B4-BE49-F238E27FC236}">
                  <a16:creationId xmlns:a16="http://schemas.microsoft.com/office/drawing/2014/main" id="{55CC4673-39E6-A7F9-A622-171F007F37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35" y="1672"/>
              <a:ext cx="157" cy="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33" name="Picture 37">
              <a:extLst>
                <a:ext uri="{FF2B5EF4-FFF2-40B4-BE49-F238E27FC236}">
                  <a16:creationId xmlns:a16="http://schemas.microsoft.com/office/drawing/2014/main" id="{97EFC631-9E95-E9DE-BE38-EC1BAB1B60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2" y="1364"/>
              <a:ext cx="157" cy="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Line 36">
              <a:extLst>
                <a:ext uri="{FF2B5EF4-FFF2-40B4-BE49-F238E27FC236}">
                  <a16:creationId xmlns:a16="http://schemas.microsoft.com/office/drawing/2014/main" id="{4E9C457D-0DF2-424B-BC1E-2D56648C8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4" y="3377"/>
              <a:ext cx="2618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4131" name="Picture 35">
              <a:extLst>
                <a:ext uri="{FF2B5EF4-FFF2-40B4-BE49-F238E27FC236}">
                  <a16:creationId xmlns:a16="http://schemas.microsoft.com/office/drawing/2014/main" id="{38F75004-56CA-4A7D-7086-12B5EAF3C0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6" y="2115"/>
              <a:ext cx="136" cy="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Line 34">
              <a:extLst>
                <a:ext uri="{FF2B5EF4-FFF2-40B4-BE49-F238E27FC236}">
                  <a16:creationId xmlns:a16="http://schemas.microsoft.com/office/drawing/2014/main" id="{6125EF09-DD73-5B4B-32AD-2D31492CD3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1" y="2543"/>
              <a:ext cx="417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EE8DF3E3-FC48-9C84-2F00-30B4DBE2E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7" y="158"/>
              <a:ext cx="6485" cy="3688"/>
            </a:xfrm>
            <a:prstGeom prst="rect">
              <a:avLst/>
            </a:prstGeom>
            <a:noFill/>
            <a:ln w="6350">
              <a:solidFill>
                <a:srgbClr val="85858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Text Box 32">
              <a:extLst>
                <a:ext uri="{FF2B5EF4-FFF2-40B4-BE49-F238E27FC236}">
                  <a16:creationId xmlns:a16="http://schemas.microsoft.com/office/drawing/2014/main" id="{CB870168-A112-8635-F0AF-CEFF0EBD4E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" y="495"/>
              <a:ext cx="668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AVG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96" name="Text Box 31">
              <a:extLst>
                <a:ext uri="{FF2B5EF4-FFF2-40B4-BE49-F238E27FC236}">
                  <a16:creationId xmlns:a16="http://schemas.microsoft.com/office/drawing/2014/main" id="{B80BB12F-0F53-2CAB-C3CE-F4D043C4F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7" y="1013"/>
              <a:ext cx="723" cy="25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1600000</a:t>
              </a: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1400000</a:t>
              </a: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1200000</a:t>
              </a: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1000000</a:t>
              </a: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800000</a:t>
              </a: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600000</a:t>
              </a: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400000</a:t>
              </a: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200000</a:t>
              </a:r>
              <a:endPara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0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97" name="Text Box 30">
              <a:extLst>
                <a:ext uri="{FF2B5EF4-FFF2-40B4-BE49-F238E27FC236}">
                  <a16:creationId xmlns:a16="http://schemas.microsoft.com/office/drawing/2014/main" id="{FE204D58-2039-603B-430C-6E949DD84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93" y="1061"/>
              <a:ext cx="1523" cy="4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y = 19912x + 12377</a:t>
              </a:r>
              <a:endPara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R² = 0.9994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98" name="Text Box 29">
              <a:extLst>
                <a:ext uri="{FF2B5EF4-FFF2-40B4-BE49-F238E27FC236}">
                  <a16:creationId xmlns:a16="http://schemas.microsoft.com/office/drawing/2014/main" id="{8A5E2322-EFD2-44F0-D79A-87952F272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9" y="2146"/>
              <a:ext cx="1028" cy="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AVG</a:t>
              </a:r>
              <a:endPara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Linear (AVG)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99" name="Text Box 28">
              <a:extLst>
                <a:ext uri="{FF2B5EF4-FFF2-40B4-BE49-F238E27FC236}">
                  <a16:creationId xmlns:a16="http://schemas.microsoft.com/office/drawing/2014/main" id="{1A7E5236-B1ED-D1D7-13B3-EED8D0325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9" y="3615"/>
              <a:ext cx="303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23863" algn="l"/>
                  <a:tab pos="884238" algn="l"/>
                  <a:tab pos="1341438" algn="l"/>
                  <a:tab pos="17922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23863" algn="l"/>
                  <a:tab pos="884238" algn="l"/>
                  <a:tab pos="1341438" algn="l"/>
                  <a:tab pos="17922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23863" algn="l"/>
                  <a:tab pos="884238" algn="l"/>
                  <a:tab pos="1341438" algn="l"/>
                  <a:tab pos="17922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23863" algn="l"/>
                  <a:tab pos="884238" algn="l"/>
                  <a:tab pos="1341438" algn="l"/>
                  <a:tab pos="17922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23863" algn="l"/>
                  <a:tab pos="884238" algn="l"/>
                  <a:tab pos="1341438" algn="l"/>
                  <a:tab pos="17922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23863" algn="l"/>
                  <a:tab pos="884238" algn="l"/>
                  <a:tab pos="1341438" algn="l"/>
                  <a:tab pos="17922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23863" algn="l"/>
                  <a:tab pos="884238" algn="l"/>
                  <a:tab pos="1341438" algn="l"/>
                  <a:tab pos="17922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23863" algn="l"/>
                  <a:tab pos="884238" algn="l"/>
                  <a:tab pos="1341438" algn="l"/>
                  <a:tab pos="17922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423863" algn="l"/>
                  <a:tab pos="884238" algn="l"/>
                  <a:tab pos="1341438" algn="l"/>
                  <a:tab pos="17922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423863" algn="l"/>
                  <a:tab pos="884238" algn="l"/>
                  <a:tab pos="1341438" algn="l"/>
                  <a:tab pos="1792288" algn="l"/>
                </a:tabLst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Calibri" panose="020F0502020204030204" pitchFamily="34" charset="0"/>
                </a:rPr>
                <a:t>0	20	40	60	80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376A31B-D503-35C6-32ED-84E8BE595FE1}"/>
              </a:ext>
            </a:extLst>
          </p:cNvPr>
          <p:cNvSpPr txBox="1"/>
          <p:nvPr/>
        </p:nvSpPr>
        <p:spPr>
          <a:xfrm>
            <a:off x="3958789" y="6010163"/>
            <a:ext cx="23294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spc="-15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Linearity</a:t>
            </a:r>
            <a:r>
              <a:rPr lang="en-US" sz="1800" b="1" spc="-25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spc="-1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61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5131-002C-522C-ADCA-E1945572A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976" y="0"/>
            <a:ext cx="8710048" cy="68580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LOD: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Detection limit of the Tepotinib in this method was found to be 0.21 µg/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mL.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8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LOQ:</a:t>
            </a:r>
            <a:r>
              <a:rPr lang="en-US" sz="1800" b="1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Quantification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limit</a:t>
            </a:r>
            <a:r>
              <a:rPr lang="en-US" sz="1800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r>
              <a:rPr lang="en-US" sz="1800" spc="2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800" spc="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found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sz="18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0.63µg/mL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49" name="image69.png">
            <a:extLst>
              <a:ext uri="{FF2B5EF4-FFF2-40B4-BE49-F238E27FC236}">
                <a16:creationId xmlns:a16="http://schemas.microsoft.com/office/drawing/2014/main" id="{F1B22F91-9697-7F0A-FA84-C78C84EF5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9" y="570721"/>
            <a:ext cx="7275486" cy="22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2F3EDA-3912-B104-5BF4-72B36BEDF38D}"/>
              </a:ext>
            </a:extLst>
          </p:cNvPr>
          <p:cNvSpPr txBox="1"/>
          <p:nvPr/>
        </p:nvSpPr>
        <p:spPr>
          <a:xfrm>
            <a:off x="2758698" y="2822428"/>
            <a:ext cx="3626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LOD</a:t>
            </a:r>
            <a:r>
              <a:rPr lang="en-US" sz="1800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r>
              <a:rPr lang="en-US" sz="1800" spc="1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endParaRPr lang="en-US" dirty="0"/>
          </a:p>
        </p:txBody>
      </p:sp>
      <p:pic>
        <p:nvPicPr>
          <p:cNvPr id="7" name="image70.png">
            <a:extLst>
              <a:ext uri="{FF2B5EF4-FFF2-40B4-BE49-F238E27FC236}">
                <a16:creationId xmlns:a16="http://schemas.microsoft.com/office/drawing/2014/main" id="{1EB6E578-2F86-55D7-44E6-3F4E7313093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8649" y="3876752"/>
            <a:ext cx="7275485" cy="22517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9616EF-EB0C-80DC-8A19-293BF1A830F0}"/>
              </a:ext>
            </a:extLst>
          </p:cNvPr>
          <p:cNvSpPr txBox="1"/>
          <p:nvPr/>
        </p:nvSpPr>
        <p:spPr>
          <a:xfrm>
            <a:off x="2913682" y="6220253"/>
            <a:ext cx="381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LOQ</a:t>
            </a:r>
            <a:r>
              <a:rPr lang="en-US" sz="1800" spc="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r>
              <a:rPr lang="en-US" sz="1800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392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5D31F-18DF-81EB-90DB-06F7152D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46276"/>
            <a:ext cx="7886700" cy="5877032"/>
          </a:xfrm>
        </p:spPr>
        <p:txBody>
          <a:bodyPr/>
          <a:lstStyle/>
          <a:p>
            <a:pPr marL="660400" marR="0" indent="-660400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ROBUSTNES</a:t>
            </a:r>
          </a:p>
          <a:p>
            <a:pPr marL="0" marR="0" indent="0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Small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Deliberate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change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method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made like</a:t>
            </a:r>
            <a:r>
              <a:rPr lang="en-US" sz="1800" spc="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minus,</a:t>
            </a:r>
            <a:r>
              <a:rPr lang="en-US" sz="1800" spc="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</a:t>
            </a:r>
            <a:r>
              <a:rPr lang="en-US" sz="18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plus,</a:t>
            </a:r>
            <a:r>
              <a:rPr lang="en-US" sz="1800" spc="-3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</a:t>
            </a:r>
            <a:r>
              <a:rPr lang="en-US" sz="1800" spc="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phase</a:t>
            </a:r>
            <a:r>
              <a:rPr lang="en-US" sz="18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minus,</a:t>
            </a:r>
            <a:r>
              <a:rPr lang="en-US" sz="18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</a:t>
            </a:r>
            <a:r>
              <a:rPr lang="en-US" sz="18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phase</a:t>
            </a:r>
            <a:r>
              <a:rPr lang="en-US" sz="18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plus,</a:t>
            </a:r>
            <a:r>
              <a:rPr lang="en-US" sz="1800" spc="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Temperature</a:t>
            </a:r>
            <a:r>
              <a:rPr lang="en-US" sz="18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minus,</a:t>
            </a:r>
            <a:r>
              <a:rPr lang="en-US" sz="1800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Temperature</a:t>
            </a:r>
            <a:r>
              <a:rPr lang="en-US" sz="1800" spc="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Plus. %RSD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above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conditions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calculated. </a:t>
            </a: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>
              <a:spcBef>
                <a:spcPts val="450"/>
              </a:spcBef>
              <a:spcAft>
                <a:spcPts val="0"/>
              </a:spcAft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B70ADD-E143-5E6C-895E-9804D095D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46452"/>
              </p:ext>
            </p:extLst>
          </p:nvPr>
        </p:nvGraphicFramePr>
        <p:xfrm>
          <a:off x="1937288" y="2526886"/>
          <a:ext cx="5269424" cy="37553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835059">
                  <a:extLst>
                    <a:ext uri="{9D8B030D-6E8A-4147-A177-3AD203B41FA5}">
                      <a16:colId xmlns:a16="http://schemas.microsoft.com/office/drawing/2014/main" val="3965103197"/>
                    </a:ext>
                  </a:extLst>
                </a:gridCol>
                <a:gridCol w="2434365">
                  <a:extLst>
                    <a:ext uri="{9D8B030D-6E8A-4147-A177-3AD203B41FA5}">
                      <a16:colId xmlns:a16="http://schemas.microsoft.com/office/drawing/2014/main" val="2594002077"/>
                    </a:ext>
                  </a:extLst>
                </a:gridCol>
              </a:tblGrid>
              <a:tr h="567690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%RSD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57220828"/>
                  </a:ext>
                </a:extLst>
              </a:tr>
              <a:tr h="570865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</a:t>
                      </a:r>
                      <a:r>
                        <a:rPr lang="en-US" sz="1600" spc="-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Minus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544063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</a:t>
                      </a:r>
                      <a:r>
                        <a:rPr lang="en-US" sz="16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435355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</a:t>
                      </a:r>
                      <a:r>
                        <a:rPr lang="en-US" sz="1600" spc="-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r>
                        <a:rPr lang="en-US" sz="1600" spc="-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Minus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9323764"/>
                  </a:ext>
                </a:extLst>
              </a:tr>
              <a:tr h="497205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</a:t>
                      </a:r>
                      <a:r>
                        <a:rPr lang="en-US" sz="16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r>
                        <a:rPr lang="en-US" sz="16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7397397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  <a:r>
                        <a:rPr lang="en-US" sz="16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minus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0419459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</a:t>
                      </a:r>
                      <a:r>
                        <a:rPr lang="en-US" sz="16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540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037030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32B48A-E4D3-3129-A4F1-8D6BC680198E}"/>
              </a:ext>
            </a:extLst>
          </p:cNvPr>
          <p:cNvSpPr txBox="1"/>
          <p:nvPr/>
        </p:nvSpPr>
        <p:spPr>
          <a:xfrm>
            <a:off x="3595607" y="1679280"/>
            <a:ext cx="2309248" cy="387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7C336-25EE-507D-C448-79E480D78D87}"/>
              </a:ext>
            </a:extLst>
          </p:cNvPr>
          <p:cNvSpPr txBox="1"/>
          <p:nvPr/>
        </p:nvSpPr>
        <p:spPr>
          <a:xfrm>
            <a:off x="3781587" y="1936418"/>
            <a:ext cx="2929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Robustness</a:t>
            </a: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624678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71.png">
            <a:extLst>
              <a:ext uri="{FF2B5EF4-FFF2-40B4-BE49-F238E27FC236}">
                <a16:creationId xmlns:a16="http://schemas.microsoft.com/office/drawing/2014/main" id="{385B0C13-13B3-CF59-E902-D5A1F34A8B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b="50906"/>
          <a:stretch/>
        </p:blipFill>
        <p:spPr>
          <a:xfrm>
            <a:off x="442670" y="116382"/>
            <a:ext cx="7886700" cy="2708184"/>
          </a:xfrm>
          <a:prstGeom prst="rect">
            <a:avLst/>
          </a:prstGeom>
        </p:spPr>
      </p:pic>
      <p:pic>
        <p:nvPicPr>
          <p:cNvPr id="5" name="image73.png">
            <a:extLst>
              <a:ext uri="{FF2B5EF4-FFF2-40B4-BE49-F238E27FC236}">
                <a16:creationId xmlns:a16="http://schemas.microsoft.com/office/drawing/2014/main" id="{3A8D92C1-2FF9-6D0D-186A-9BAE76A4BAD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50000"/>
          <a:stretch/>
        </p:blipFill>
        <p:spPr>
          <a:xfrm>
            <a:off x="442670" y="3429000"/>
            <a:ext cx="7886700" cy="28948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2ED1CB-8416-D212-3FED-55A0952ECCF2}"/>
              </a:ext>
            </a:extLst>
          </p:cNvPr>
          <p:cNvSpPr txBox="1"/>
          <p:nvPr/>
        </p:nvSpPr>
        <p:spPr>
          <a:xfrm>
            <a:off x="3022169" y="2824566"/>
            <a:ext cx="3766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minus chromatogram of tepotinib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B33B5-E055-5AB6-3EDF-91446FCA268C}"/>
              </a:ext>
            </a:extLst>
          </p:cNvPr>
          <p:cNvSpPr txBox="1"/>
          <p:nvPr/>
        </p:nvSpPr>
        <p:spPr>
          <a:xfrm>
            <a:off x="3022169" y="6251173"/>
            <a:ext cx="4045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Flow</a:t>
            </a:r>
            <a:r>
              <a:rPr lang="en-US" sz="16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plus</a:t>
            </a:r>
            <a:r>
              <a:rPr lang="en-US" sz="1600" b="1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r>
              <a:rPr lang="en-US" sz="16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600" b="1" spc="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2284894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75.png">
            <a:extLst>
              <a:ext uri="{FF2B5EF4-FFF2-40B4-BE49-F238E27FC236}">
                <a16:creationId xmlns:a16="http://schemas.microsoft.com/office/drawing/2014/main" id="{FACFB447-598B-40CF-F568-1DF7AF159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b="50077"/>
          <a:stretch/>
        </p:blipFill>
        <p:spPr>
          <a:xfrm>
            <a:off x="444680" y="217245"/>
            <a:ext cx="8254640" cy="28824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A61A46-0903-4AF1-D147-0B67101E23AF}"/>
              </a:ext>
            </a:extLst>
          </p:cNvPr>
          <p:cNvSpPr txBox="1"/>
          <p:nvPr/>
        </p:nvSpPr>
        <p:spPr>
          <a:xfrm>
            <a:off x="1828800" y="2914995"/>
            <a:ext cx="5935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4045" marR="280670" algn="ctr">
              <a:spcBef>
                <a:spcPts val="45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</a:t>
            </a:r>
            <a:r>
              <a:rPr lang="en-US" sz="18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phase</a:t>
            </a:r>
            <a:r>
              <a:rPr lang="en-US" sz="1800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minus</a:t>
            </a:r>
            <a:r>
              <a:rPr lang="en-US" sz="1800" b="1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r>
              <a:rPr lang="en-US" sz="18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image77.png">
            <a:extLst>
              <a:ext uri="{FF2B5EF4-FFF2-40B4-BE49-F238E27FC236}">
                <a16:creationId xmlns:a16="http://schemas.microsoft.com/office/drawing/2014/main" id="{96E31179-2DAE-DB47-FDC3-0B11DAFB1A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50000"/>
          <a:stretch/>
        </p:blipFill>
        <p:spPr>
          <a:xfrm>
            <a:off x="557938" y="3429000"/>
            <a:ext cx="8141381" cy="28824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719DF0-AB09-2071-F428-6BF5CB2D128B}"/>
              </a:ext>
            </a:extLst>
          </p:cNvPr>
          <p:cNvSpPr txBox="1"/>
          <p:nvPr/>
        </p:nvSpPr>
        <p:spPr>
          <a:xfrm>
            <a:off x="1906291" y="6152356"/>
            <a:ext cx="5780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14045" marR="280670" algn="ctr">
              <a:spcBef>
                <a:spcPts val="45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Mobile</a:t>
            </a:r>
            <a:r>
              <a:rPr lang="en-US" sz="1800" b="1" spc="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phase</a:t>
            </a:r>
            <a:r>
              <a:rPr lang="en-US" sz="1800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12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plus</a:t>
            </a:r>
            <a:r>
              <a:rPr lang="en-US" sz="1800" b="1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r>
              <a:rPr lang="en-US" sz="1800" b="1" spc="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033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79.png">
            <a:extLst>
              <a:ext uri="{FF2B5EF4-FFF2-40B4-BE49-F238E27FC236}">
                <a16:creationId xmlns:a16="http://schemas.microsoft.com/office/drawing/2014/main" id="{97E763E7-AEDC-0EC5-AB9E-C20D9528D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b="51723"/>
          <a:stretch/>
        </p:blipFill>
        <p:spPr>
          <a:xfrm>
            <a:off x="372268" y="247897"/>
            <a:ext cx="8399463" cy="2836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719E34-664F-AB7C-EAFD-CC4EF1FE69CE}"/>
              </a:ext>
            </a:extLst>
          </p:cNvPr>
          <p:cNvSpPr txBox="1"/>
          <p:nvPr/>
        </p:nvSpPr>
        <p:spPr>
          <a:xfrm>
            <a:off x="2464230" y="3059668"/>
            <a:ext cx="5424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Temperature</a:t>
            </a:r>
            <a:r>
              <a:rPr lang="en-US" sz="1800" b="1" spc="16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minus</a:t>
            </a:r>
            <a:r>
              <a:rPr lang="en-US" sz="1800" b="1" spc="7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</a:t>
            </a:r>
            <a:r>
              <a:rPr lang="en-US" sz="1800" b="1" spc="-5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8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endParaRPr lang="en-US" dirty="0"/>
          </a:p>
        </p:txBody>
      </p:sp>
      <p:pic>
        <p:nvPicPr>
          <p:cNvPr id="6" name="image81.png">
            <a:extLst>
              <a:ext uri="{FF2B5EF4-FFF2-40B4-BE49-F238E27FC236}">
                <a16:creationId xmlns:a16="http://schemas.microsoft.com/office/drawing/2014/main" id="{E137342C-70D5-1BEF-4540-23A821D21EC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b="50000"/>
          <a:stretch/>
        </p:blipFill>
        <p:spPr>
          <a:xfrm>
            <a:off x="526943" y="3428999"/>
            <a:ext cx="8244788" cy="28362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EA0155-5697-35D9-4A54-455F56E6ECDF}"/>
              </a:ext>
            </a:extLst>
          </p:cNvPr>
          <p:cNvSpPr txBox="1"/>
          <p:nvPr/>
        </p:nvSpPr>
        <p:spPr>
          <a:xfrm>
            <a:off x="2603716" y="6240768"/>
            <a:ext cx="5424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Temperature</a:t>
            </a:r>
            <a:r>
              <a:rPr lang="en-US" sz="1800" b="1" spc="1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spc="16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plus chromatogram</a:t>
            </a:r>
            <a:r>
              <a:rPr lang="en-US" sz="18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014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A6B32-389D-C2BB-4E51-738FD2DDB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343" y="406400"/>
            <a:ext cx="8534400" cy="6125029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b="1" u="heavy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D</a:t>
            </a:r>
            <a:r>
              <a:rPr lang="en-US" sz="1800" b="1" u="heavy" spc="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E</a:t>
            </a:r>
            <a:r>
              <a:rPr lang="en-US" sz="1800" b="1" u="heavy" spc="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G</a:t>
            </a:r>
            <a:r>
              <a:rPr lang="en-US" sz="1800" b="1" u="heavy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R</a:t>
            </a:r>
            <a:r>
              <a:rPr lang="en-US" sz="1800" b="1" u="heavy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AD</a:t>
            </a:r>
            <a:r>
              <a:rPr lang="en-US" sz="1800" b="1" u="heavy" spc="-12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A</a:t>
            </a:r>
            <a:r>
              <a:rPr lang="en-US" sz="1800" b="1" u="heavy" spc="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T</a:t>
            </a:r>
            <a:r>
              <a:rPr lang="en-US" sz="18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ION</a:t>
            </a:r>
            <a:r>
              <a:rPr lang="en-US" sz="1800" b="1" u="heavy" spc="-5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1800" b="1" u="heavy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S</a:t>
            </a:r>
            <a:r>
              <a:rPr lang="en-US" sz="1800" b="1" u="heavy" spc="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T</a:t>
            </a:r>
            <a:r>
              <a:rPr lang="en-US" sz="1800" b="1" u="heavy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UD</a:t>
            </a:r>
            <a:r>
              <a:rPr lang="en-US" sz="1800" b="1" u="heavy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latin typeface="Times New Roman"/>
                <a:cs typeface="Times New Roman"/>
              </a:rPr>
              <a:t>IES</a:t>
            </a:r>
            <a:endParaRPr lang="en-US" sz="1800" dirty="0">
              <a:latin typeface="Times New Roman"/>
              <a:cs typeface="Times New Roman"/>
            </a:endParaRPr>
          </a:p>
          <a:p>
            <a:pPr marL="604838" marR="673100" indent="-604838" algn="just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Acid</a:t>
            </a:r>
            <a:r>
              <a:rPr lang="en-US" sz="1800" b="1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Degradation</a:t>
            </a:r>
            <a:r>
              <a:rPr lang="en-US" sz="1800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Studies</a:t>
            </a:r>
            <a:endParaRPr lang="en-US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673100" indent="19050" algn="just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To 1 mL of stock solution Tepotinib 1 mL of 2N Hydrochloric acid was added 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refluxed for 30mins. The resultant solution was diluted to obtain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(45 ppm)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 and 10 µL solutions were injected into the system and the chromatograms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recorded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assess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stability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sample.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84.png">
            <a:extLst>
              <a:ext uri="{FF2B5EF4-FFF2-40B4-BE49-F238E27FC236}">
                <a16:creationId xmlns:a16="http://schemas.microsoft.com/office/drawing/2014/main" id="{5F8A6DA4-BEE2-6E0F-D70C-C1E9ACD9189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0571" y="2288267"/>
            <a:ext cx="7431315" cy="236129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9D7C17-8A58-F982-D9C0-4FCD50603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208687"/>
              </p:ext>
            </p:extLst>
          </p:nvPr>
        </p:nvGraphicFramePr>
        <p:xfrm>
          <a:off x="580571" y="4760411"/>
          <a:ext cx="7503676" cy="15250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173841">
                  <a:extLst>
                    <a:ext uri="{9D8B030D-6E8A-4147-A177-3AD203B41FA5}">
                      <a16:colId xmlns:a16="http://schemas.microsoft.com/office/drawing/2014/main" val="293777852"/>
                    </a:ext>
                  </a:extLst>
                </a:gridCol>
                <a:gridCol w="1081515">
                  <a:extLst>
                    <a:ext uri="{9D8B030D-6E8A-4147-A177-3AD203B41FA5}">
                      <a16:colId xmlns:a16="http://schemas.microsoft.com/office/drawing/2014/main" val="4272228971"/>
                    </a:ext>
                  </a:extLst>
                </a:gridCol>
                <a:gridCol w="641894">
                  <a:extLst>
                    <a:ext uri="{9D8B030D-6E8A-4147-A177-3AD203B41FA5}">
                      <a16:colId xmlns:a16="http://schemas.microsoft.com/office/drawing/2014/main" val="1416519857"/>
                    </a:ext>
                  </a:extLst>
                </a:gridCol>
                <a:gridCol w="850022">
                  <a:extLst>
                    <a:ext uri="{9D8B030D-6E8A-4147-A177-3AD203B41FA5}">
                      <a16:colId xmlns:a16="http://schemas.microsoft.com/office/drawing/2014/main" val="2502382815"/>
                    </a:ext>
                  </a:extLst>
                </a:gridCol>
                <a:gridCol w="886286">
                  <a:extLst>
                    <a:ext uri="{9D8B030D-6E8A-4147-A177-3AD203B41FA5}">
                      <a16:colId xmlns:a16="http://schemas.microsoft.com/office/drawing/2014/main" val="1708673543"/>
                    </a:ext>
                  </a:extLst>
                </a:gridCol>
                <a:gridCol w="1107858">
                  <a:extLst>
                    <a:ext uri="{9D8B030D-6E8A-4147-A177-3AD203B41FA5}">
                      <a16:colId xmlns:a16="http://schemas.microsoft.com/office/drawing/2014/main" val="4195905917"/>
                    </a:ext>
                  </a:extLst>
                </a:gridCol>
                <a:gridCol w="783726">
                  <a:extLst>
                    <a:ext uri="{9D8B030D-6E8A-4147-A177-3AD203B41FA5}">
                      <a16:colId xmlns:a16="http://schemas.microsoft.com/office/drawing/2014/main" val="1210270056"/>
                    </a:ext>
                  </a:extLst>
                </a:gridCol>
                <a:gridCol w="781000">
                  <a:extLst>
                    <a:ext uri="{9D8B030D-6E8A-4147-A177-3AD203B41FA5}">
                      <a16:colId xmlns:a16="http://schemas.microsoft.com/office/drawing/2014/main" val="3403178408"/>
                    </a:ext>
                  </a:extLst>
                </a:gridCol>
                <a:gridCol w="1197534">
                  <a:extLst>
                    <a:ext uri="{9D8B030D-6E8A-4147-A177-3AD203B41FA5}">
                      <a16:colId xmlns:a16="http://schemas.microsoft.com/office/drawing/2014/main" val="4104473393"/>
                    </a:ext>
                  </a:extLst>
                </a:gridCol>
              </a:tblGrid>
              <a:tr h="657949">
                <a:tc>
                  <a:txBody>
                    <a:bodyPr/>
                    <a:lstStyle/>
                    <a:p>
                      <a:pPr marL="571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</a:t>
                      </a:r>
                      <a:r>
                        <a:rPr lang="en-US" sz="1600" spc="-11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1587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3114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935" marR="0" indent="-57785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6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Purity1 </a:t>
                      </a: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885" marR="0" indent="170180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Purity1 </a:t>
                      </a:r>
                      <a:r>
                        <a:rPr lang="en-US" sz="16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8128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USP</a:t>
                      </a:r>
                      <a:r>
                        <a:rPr lang="en-US" sz="1600" spc="-28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Plate</a:t>
                      </a:r>
                      <a:r>
                        <a:rPr lang="en-US" sz="1600" spc="-4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048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USP</a:t>
                      </a:r>
                      <a:r>
                        <a:rPr lang="en-US" sz="1600" spc="-27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Tailing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683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USP</a:t>
                      </a:r>
                      <a:r>
                        <a:rPr lang="en-US" sz="1600" spc="-2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1346995"/>
                  </a:ext>
                </a:extLst>
              </a:tr>
              <a:tr h="354847">
                <a:tc>
                  <a:txBody>
                    <a:bodyPr/>
                    <a:lstStyle/>
                    <a:p>
                      <a:pPr marL="24765" marR="0" algn="ctr"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6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715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Peak_1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1.783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493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366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11.516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620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8.899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5565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74000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36086775"/>
                  </a:ext>
                </a:extLst>
              </a:tr>
              <a:tr h="438633">
                <a:tc>
                  <a:txBody>
                    <a:bodyPr/>
                    <a:lstStyle/>
                    <a:p>
                      <a:pPr marL="24765" marR="0" algn="ctr"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7155" marR="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Tepotinib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2.457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4295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871398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366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0.238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620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5565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2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2861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366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918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3207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36EC9-55D5-5218-E68D-295F848B4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130629"/>
            <a:ext cx="8307614" cy="6409656"/>
          </a:xfrm>
        </p:spPr>
        <p:txBody>
          <a:bodyPr/>
          <a:lstStyle/>
          <a:p>
            <a:pPr marL="376238" marR="0" indent="-376238" algn="just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rPr lang="en-US" sz="1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 Degradation</a:t>
            </a:r>
            <a:r>
              <a:rPr lang="en-US" sz="1800" b="1" kern="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Studies</a:t>
            </a:r>
            <a:endParaRPr lang="en-US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742315" indent="0" algn="just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To 1 mL of stock solution Tepotinib 1 mL of 2 N sodium hydroxide was added 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refluxed for 30 mins. The resultant solution was diluted to obtain (45ppm)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µL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injected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recorded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assess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2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stability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sample.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79" name="image85.png">
            <a:extLst>
              <a:ext uri="{FF2B5EF4-FFF2-40B4-BE49-F238E27FC236}">
                <a16:creationId xmlns:a16="http://schemas.microsoft.com/office/drawing/2014/main" id="{B2DC0439-E0A8-D1CB-0F78-D0A96A017D4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3485" y="1793375"/>
            <a:ext cx="7534636" cy="2592645"/>
          </a:xfrm>
          <a:prstGeom prst="rect">
            <a:avLst/>
          </a:prstGeom>
        </p:spPr>
      </p:pic>
      <p:graphicFrame>
        <p:nvGraphicFramePr>
          <p:cNvPr id="180" name="Table 179">
            <a:extLst>
              <a:ext uri="{FF2B5EF4-FFF2-40B4-BE49-F238E27FC236}">
                <a16:creationId xmlns:a16="http://schemas.microsoft.com/office/drawing/2014/main" id="{40B1F173-6E1F-E361-6E4C-14ECDF58E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628360"/>
              </p:ext>
            </p:extLst>
          </p:nvPr>
        </p:nvGraphicFramePr>
        <p:xfrm>
          <a:off x="787953" y="4582092"/>
          <a:ext cx="7534637" cy="13380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50357">
                  <a:extLst>
                    <a:ext uri="{9D8B030D-6E8A-4147-A177-3AD203B41FA5}">
                      <a16:colId xmlns:a16="http://schemas.microsoft.com/office/drawing/2014/main" val="3445123643"/>
                    </a:ext>
                  </a:extLst>
                </a:gridCol>
                <a:gridCol w="1074414">
                  <a:extLst>
                    <a:ext uri="{9D8B030D-6E8A-4147-A177-3AD203B41FA5}">
                      <a16:colId xmlns:a16="http://schemas.microsoft.com/office/drawing/2014/main" val="1374232724"/>
                    </a:ext>
                  </a:extLst>
                </a:gridCol>
                <a:gridCol w="662387">
                  <a:extLst>
                    <a:ext uri="{9D8B030D-6E8A-4147-A177-3AD203B41FA5}">
                      <a16:colId xmlns:a16="http://schemas.microsoft.com/office/drawing/2014/main" val="771934323"/>
                    </a:ext>
                  </a:extLst>
                </a:gridCol>
                <a:gridCol w="743004">
                  <a:extLst>
                    <a:ext uri="{9D8B030D-6E8A-4147-A177-3AD203B41FA5}">
                      <a16:colId xmlns:a16="http://schemas.microsoft.com/office/drawing/2014/main" val="31555029"/>
                    </a:ext>
                  </a:extLst>
                </a:gridCol>
                <a:gridCol w="879841">
                  <a:extLst>
                    <a:ext uri="{9D8B030D-6E8A-4147-A177-3AD203B41FA5}">
                      <a16:colId xmlns:a16="http://schemas.microsoft.com/office/drawing/2014/main" val="660283329"/>
                    </a:ext>
                  </a:extLst>
                </a:gridCol>
                <a:gridCol w="1142615">
                  <a:extLst>
                    <a:ext uri="{9D8B030D-6E8A-4147-A177-3AD203B41FA5}">
                      <a16:colId xmlns:a16="http://schemas.microsoft.com/office/drawing/2014/main" val="643483684"/>
                    </a:ext>
                  </a:extLst>
                </a:gridCol>
                <a:gridCol w="643967">
                  <a:extLst>
                    <a:ext uri="{9D8B030D-6E8A-4147-A177-3AD203B41FA5}">
                      <a16:colId xmlns:a16="http://schemas.microsoft.com/office/drawing/2014/main" val="906211592"/>
                    </a:ext>
                  </a:extLst>
                </a:gridCol>
                <a:gridCol w="847046">
                  <a:extLst>
                    <a:ext uri="{9D8B030D-6E8A-4147-A177-3AD203B41FA5}">
                      <a16:colId xmlns:a16="http://schemas.microsoft.com/office/drawing/2014/main" val="4231978030"/>
                    </a:ext>
                  </a:extLst>
                </a:gridCol>
                <a:gridCol w="1291006">
                  <a:extLst>
                    <a:ext uri="{9D8B030D-6E8A-4147-A177-3AD203B41FA5}">
                      <a16:colId xmlns:a16="http://schemas.microsoft.com/office/drawing/2014/main" val="1729093400"/>
                    </a:ext>
                  </a:extLst>
                </a:gridCol>
              </a:tblGrid>
              <a:tr h="532348">
                <a:tc>
                  <a:txBody>
                    <a:bodyPr/>
                    <a:lstStyle/>
                    <a:p>
                      <a:pPr marL="571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</a:t>
                      </a:r>
                      <a:r>
                        <a:rPr lang="en-US" sz="1600" spc="-11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1587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3114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935" marR="0" indent="-57785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6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Purity1 </a:t>
                      </a: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885" marR="0" indent="170180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Purity1 </a:t>
                      </a:r>
                      <a:r>
                        <a:rPr lang="en-US" sz="1600" spc="-5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8128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USP</a:t>
                      </a:r>
                      <a:r>
                        <a:rPr lang="en-US" sz="1600" spc="-28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Plate</a:t>
                      </a:r>
                      <a:r>
                        <a:rPr lang="en-US" sz="1600" spc="-4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048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USP</a:t>
                      </a:r>
                      <a:r>
                        <a:rPr lang="en-US" sz="1600" spc="-27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683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USP</a:t>
                      </a:r>
                      <a:r>
                        <a:rPr lang="en-US" sz="1600" spc="-27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70097988"/>
                  </a:ext>
                </a:extLst>
              </a:tr>
              <a:tr h="292233">
                <a:tc>
                  <a:txBody>
                    <a:bodyPr/>
                    <a:lstStyle/>
                    <a:p>
                      <a:pPr marL="24765" marR="0" algn="ctr"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6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715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Peak_1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1.968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0485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5565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7879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46336369"/>
                  </a:ext>
                </a:extLst>
              </a:tr>
              <a:tr h="314297">
                <a:tc>
                  <a:txBody>
                    <a:bodyPr/>
                    <a:lstStyle/>
                    <a:p>
                      <a:pPr marL="24765" marR="0" algn="ctr"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7155" marR="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Tepotinib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2.452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4295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891302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12115" marR="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0" marR="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5565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3132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366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919240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051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7AA36-2896-7EC6-96AA-ED3B1B89D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54" y="325465"/>
            <a:ext cx="8127892" cy="6323308"/>
          </a:xfrm>
        </p:spPr>
        <p:txBody>
          <a:bodyPr/>
          <a:lstStyle/>
          <a:p>
            <a:pPr marL="376238" marR="0" indent="-376238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US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Peroxide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degradation studies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To 1 mL of stock solution of Tepotinib 1 mL of 20% hydrogen peroxide (H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</a:t>
            </a:r>
            <a:r>
              <a:rPr lang="en-US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was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added separately. The solutions were kept for 30 min at . For HPLC study, 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resultant solution was diluted to obtain (45 ppm) solution and 10 µL were injected into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system and the chromatograms were recorded to assess the stability of sample.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  <p:pic>
        <p:nvPicPr>
          <p:cNvPr id="4" name="image86.png">
            <a:extLst>
              <a:ext uri="{FF2B5EF4-FFF2-40B4-BE49-F238E27FC236}">
                <a16:creationId xmlns:a16="http://schemas.microsoft.com/office/drawing/2014/main" id="{A9DAD01E-356E-DE2D-B41D-B0FBCBD46DF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1410" y="2040572"/>
            <a:ext cx="6834753" cy="277685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FC7C03-FC54-70E3-169F-730E79651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316389"/>
              </p:ext>
            </p:extLst>
          </p:nvPr>
        </p:nvGraphicFramePr>
        <p:xfrm>
          <a:off x="907620" y="4923837"/>
          <a:ext cx="6748543" cy="145845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85484">
                  <a:extLst>
                    <a:ext uri="{9D8B030D-6E8A-4147-A177-3AD203B41FA5}">
                      <a16:colId xmlns:a16="http://schemas.microsoft.com/office/drawing/2014/main" val="1092159020"/>
                    </a:ext>
                  </a:extLst>
                </a:gridCol>
                <a:gridCol w="1038652">
                  <a:extLst>
                    <a:ext uri="{9D8B030D-6E8A-4147-A177-3AD203B41FA5}">
                      <a16:colId xmlns:a16="http://schemas.microsoft.com/office/drawing/2014/main" val="1919362351"/>
                    </a:ext>
                  </a:extLst>
                </a:gridCol>
                <a:gridCol w="832375">
                  <a:extLst>
                    <a:ext uri="{9D8B030D-6E8A-4147-A177-3AD203B41FA5}">
                      <a16:colId xmlns:a16="http://schemas.microsoft.com/office/drawing/2014/main" val="3299231503"/>
                    </a:ext>
                  </a:extLst>
                </a:gridCol>
                <a:gridCol w="763951">
                  <a:extLst>
                    <a:ext uri="{9D8B030D-6E8A-4147-A177-3AD203B41FA5}">
                      <a16:colId xmlns:a16="http://schemas.microsoft.com/office/drawing/2014/main" val="2139988070"/>
                    </a:ext>
                  </a:extLst>
                </a:gridCol>
                <a:gridCol w="1049332">
                  <a:extLst>
                    <a:ext uri="{9D8B030D-6E8A-4147-A177-3AD203B41FA5}">
                      <a16:colId xmlns:a16="http://schemas.microsoft.com/office/drawing/2014/main" val="1219380828"/>
                    </a:ext>
                  </a:extLst>
                </a:gridCol>
                <a:gridCol w="1089589">
                  <a:extLst>
                    <a:ext uri="{9D8B030D-6E8A-4147-A177-3AD203B41FA5}">
                      <a16:colId xmlns:a16="http://schemas.microsoft.com/office/drawing/2014/main" val="3501697690"/>
                    </a:ext>
                  </a:extLst>
                </a:gridCol>
                <a:gridCol w="774760">
                  <a:extLst>
                    <a:ext uri="{9D8B030D-6E8A-4147-A177-3AD203B41FA5}">
                      <a16:colId xmlns:a16="http://schemas.microsoft.com/office/drawing/2014/main" val="819759429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19711983"/>
                    </a:ext>
                  </a:extLst>
                </a:gridCol>
              </a:tblGrid>
              <a:tr h="643823">
                <a:tc>
                  <a:txBody>
                    <a:bodyPr/>
                    <a:lstStyle/>
                    <a:p>
                      <a:pPr marL="571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4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</a:t>
                      </a:r>
                      <a:r>
                        <a:rPr lang="en-US" sz="1600" spc="-13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14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6515" marR="4572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3114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935" marR="151130" indent="-57785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5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Purity1</a:t>
                      </a:r>
                      <a:r>
                        <a:rPr lang="en-US" sz="1600" spc="-54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885" marR="60960" indent="170180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Purity1</a:t>
                      </a:r>
                      <a:r>
                        <a:rPr lang="en-US" sz="1600" spc="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4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8128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9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USP</a:t>
                      </a:r>
                      <a:r>
                        <a:rPr lang="en-US" sz="1600" spc="-29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9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Plate</a:t>
                      </a:r>
                      <a:r>
                        <a:rPr lang="en-US" sz="1600" spc="-65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9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048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8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USP</a:t>
                      </a:r>
                      <a:r>
                        <a:rPr lang="en-US" sz="1600" spc="-29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spc="-8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Tailing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80598126"/>
                  </a:ext>
                </a:extLst>
              </a:tr>
              <a:tr h="350244"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715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Peak_1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3025" marR="4572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1.933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0485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83588467"/>
                  </a:ext>
                </a:extLst>
              </a:tr>
              <a:tr h="376688"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7155" marR="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Tepotinib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3025" marR="4572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2.448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4295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915131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12115" marR="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0.217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0" marR="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0.282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5565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3436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435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03169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364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3B5A3-06F8-A0EB-E8F7-7E845C599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1959"/>
            <a:ext cx="7886700" cy="5805004"/>
          </a:xfrm>
        </p:spPr>
        <p:txBody>
          <a:bodyPr/>
          <a:lstStyle/>
          <a:p>
            <a:pPr marL="0" marR="0" indent="0" algn="just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b="1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Thermal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Degradation</a:t>
            </a:r>
            <a:r>
              <a:rPr lang="en-US" sz="1800" b="1" kern="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Studies</a:t>
            </a:r>
          </a:p>
          <a:p>
            <a:pPr marL="0" marR="0" indent="376238" algn="just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standard drug solution was placed in oven at 105℃ for 6 h to study dry heat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degradation. For HPLC study, the resultant solution was diluted to (45 ppm) solution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and10 µL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 injected into the system and  the chromatograms were recorded 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assess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stability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1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18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sample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87.png">
            <a:extLst>
              <a:ext uri="{FF2B5EF4-FFF2-40B4-BE49-F238E27FC236}">
                <a16:creationId xmlns:a16="http://schemas.microsoft.com/office/drawing/2014/main" id="{CB3A2FC1-35EB-1B3A-3F9C-84A3E7D23F4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8650" y="1994854"/>
            <a:ext cx="7399472" cy="253065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F16088-C718-5315-030C-1F327CAE5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099904"/>
              </p:ext>
            </p:extLst>
          </p:nvPr>
        </p:nvGraphicFramePr>
        <p:xfrm>
          <a:off x="1193369" y="4675665"/>
          <a:ext cx="6137328" cy="116719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33658">
                  <a:extLst>
                    <a:ext uri="{9D8B030D-6E8A-4147-A177-3AD203B41FA5}">
                      <a16:colId xmlns:a16="http://schemas.microsoft.com/office/drawing/2014/main" val="3066621116"/>
                    </a:ext>
                  </a:extLst>
                </a:gridCol>
                <a:gridCol w="969093">
                  <a:extLst>
                    <a:ext uri="{9D8B030D-6E8A-4147-A177-3AD203B41FA5}">
                      <a16:colId xmlns:a16="http://schemas.microsoft.com/office/drawing/2014/main" val="2560898120"/>
                    </a:ext>
                  </a:extLst>
                </a:gridCol>
                <a:gridCol w="562285">
                  <a:extLst>
                    <a:ext uri="{9D8B030D-6E8A-4147-A177-3AD203B41FA5}">
                      <a16:colId xmlns:a16="http://schemas.microsoft.com/office/drawing/2014/main" val="2456534461"/>
                    </a:ext>
                  </a:extLst>
                </a:gridCol>
                <a:gridCol w="762097">
                  <a:extLst>
                    <a:ext uri="{9D8B030D-6E8A-4147-A177-3AD203B41FA5}">
                      <a16:colId xmlns:a16="http://schemas.microsoft.com/office/drawing/2014/main" val="3128023830"/>
                    </a:ext>
                  </a:extLst>
                </a:gridCol>
                <a:gridCol w="933432">
                  <a:extLst>
                    <a:ext uri="{9D8B030D-6E8A-4147-A177-3AD203B41FA5}">
                      <a16:colId xmlns:a16="http://schemas.microsoft.com/office/drawing/2014/main" val="994840252"/>
                    </a:ext>
                  </a:extLst>
                </a:gridCol>
                <a:gridCol w="1050001">
                  <a:extLst>
                    <a:ext uri="{9D8B030D-6E8A-4147-A177-3AD203B41FA5}">
                      <a16:colId xmlns:a16="http://schemas.microsoft.com/office/drawing/2014/main" val="1163264062"/>
                    </a:ext>
                  </a:extLst>
                </a:gridCol>
                <a:gridCol w="644789">
                  <a:extLst>
                    <a:ext uri="{9D8B030D-6E8A-4147-A177-3AD203B41FA5}">
                      <a16:colId xmlns:a16="http://schemas.microsoft.com/office/drawing/2014/main" val="2279029006"/>
                    </a:ext>
                  </a:extLst>
                </a:gridCol>
                <a:gridCol w="981973">
                  <a:extLst>
                    <a:ext uri="{9D8B030D-6E8A-4147-A177-3AD203B41FA5}">
                      <a16:colId xmlns:a16="http://schemas.microsoft.com/office/drawing/2014/main" val="2034121369"/>
                    </a:ext>
                  </a:extLst>
                </a:gridCol>
              </a:tblGrid>
              <a:tr h="789292">
                <a:tc>
                  <a:txBody>
                    <a:bodyPr/>
                    <a:lstStyle/>
                    <a:p>
                      <a:pPr marL="571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>
                          <a:effectLst/>
                        </a:rPr>
                        <a:t>Peak</a:t>
                      </a:r>
                      <a:r>
                        <a:rPr lang="en-US" sz="1600" spc="-115">
                          <a:effectLst/>
                        </a:rPr>
                        <a:t> </a:t>
                      </a:r>
                      <a:r>
                        <a:rPr lang="en-US" sz="1600" spc="-20">
                          <a:effectLst/>
                        </a:rPr>
                        <a:t>Name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1587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</a:rPr>
                        <a:t>RT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540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</a:rPr>
                        <a:t>Area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935" marR="0" indent="-57785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60" dirty="0">
                          <a:effectLst/>
                        </a:rPr>
                        <a:t>Purity1 </a:t>
                      </a:r>
                      <a:r>
                        <a:rPr lang="en-US" sz="1600" spc="-10" dirty="0">
                          <a:effectLst/>
                        </a:rPr>
                        <a:t>Angle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885" marR="0" indent="170180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</a:rPr>
                        <a:t>Purity1 </a:t>
                      </a:r>
                      <a:r>
                        <a:rPr lang="en-US" sz="1600" spc="-50" dirty="0">
                          <a:effectLst/>
                        </a:rPr>
                        <a:t>Threshold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8128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>
                          <a:effectLst/>
                        </a:rPr>
                        <a:t>USP</a:t>
                      </a:r>
                      <a:r>
                        <a:rPr lang="en-US" sz="1600" spc="-280">
                          <a:effectLst/>
                        </a:rPr>
                        <a:t> </a:t>
                      </a:r>
                      <a:r>
                        <a:rPr lang="en-US" sz="1600" spc="-100">
                          <a:effectLst/>
                        </a:rPr>
                        <a:t>Plate</a:t>
                      </a:r>
                      <a:r>
                        <a:rPr lang="en-US" sz="1600" spc="-45">
                          <a:effectLst/>
                        </a:rPr>
                        <a:t> </a:t>
                      </a:r>
                      <a:r>
                        <a:rPr lang="en-US" sz="1600" spc="-100">
                          <a:effectLst/>
                        </a:rPr>
                        <a:t>Count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048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10" dirty="0">
                          <a:effectLst/>
                        </a:rPr>
                        <a:t>USP</a:t>
                      </a:r>
                      <a:r>
                        <a:rPr lang="en-US" sz="1600" spc="-275" dirty="0">
                          <a:effectLst/>
                        </a:rPr>
                        <a:t> </a:t>
                      </a:r>
                      <a:r>
                        <a:rPr lang="en-US" sz="1600" spc="-10" dirty="0">
                          <a:effectLst/>
                        </a:rPr>
                        <a:t>Tailing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74609943"/>
                  </a:ext>
                </a:extLst>
              </a:tr>
              <a:tr h="377904">
                <a:tc>
                  <a:txBody>
                    <a:bodyPr/>
                    <a:lstStyle/>
                    <a:p>
                      <a:pPr marL="95250" marR="0" algn="ctr"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600" spc="-5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715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</a:rPr>
                        <a:t>Tepotinib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2.428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5400" marR="50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932178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12115" marR="0" algn="l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</a:rPr>
                        <a:t>0.202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0" marR="0" algn="l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</a:rPr>
                        <a:t>0.273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5565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</a:rPr>
                        <a:t>3444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</a:rPr>
                        <a:t>1.4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00056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86725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10FA4-DD1B-5EAB-7B31-9746C2E8F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94468"/>
            <a:ext cx="7886700" cy="6090834"/>
          </a:xfrm>
        </p:spPr>
        <p:txBody>
          <a:bodyPr/>
          <a:lstStyle/>
          <a:p>
            <a:pPr marL="376238" marR="0" indent="-376238" algn="just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800" b="1" kern="0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UV- degradation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studies</a:t>
            </a:r>
          </a:p>
          <a:p>
            <a:pPr marL="0" marR="733425" indent="30163" algn="just">
              <a:lnSpc>
                <a:spcPct val="100000"/>
              </a:lnSpc>
              <a:spcBef>
                <a:spcPts val="73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 photochemical  stability  of  the  drug  was also studied by exposing the (450 ppm)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 to UV Light by keeping the beaker in UV Chamber for 7days or 200-Watt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hours/m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photo stability chamber</a:t>
            </a:r>
            <a:r>
              <a:rPr lang="en-US" sz="18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For HPLC study, the resultant solution was diluted to</a:t>
            </a:r>
            <a:r>
              <a:rPr lang="en-US" sz="1800" spc="-28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obtain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(45 ppm)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solutions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µL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injected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chromatograms</a:t>
            </a:r>
            <a:r>
              <a:rPr lang="en-US" sz="1800" spc="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recorded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assess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stability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sample.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88.png">
            <a:extLst>
              <a:ext uri="{FF2B5EF4-FFF2-40B4-BE49-F238E27FC236}">
                <a16:creationId xmlns:a16="http://schemas.microsoft.com/office/drawing/2014/main" id="{3A16A43D-08DA-C480-B9EA-B3F98AEE841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8650" y="2324746"/>
            <a:ext cx="7151499" cy="252622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DEF71F3-093A-EE7D-BB53-68DB554D8D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675454"/>
              </p:ext>
            </p:extLst>
          </p:nvPr>
        </p:nvGraphicFramePr>
        <p:xfrm>
          <a:off x="845626" y="5109478"/>
          <a:ext cx="7151500" cy="113150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58871">
                  <a:extLst>
                    <a:ext uri="{9D8B030D-6E8A-4147-A177-3AD203B41FA5}">
                      <a16:colId xmlns:a16="http://schemas.microsoft.com/office/drawing/2014/main" val="3555694664"/>
                    </a:ext>
                  </a:extLst>
                </a:gridCol>
                <a:gridCol w="1073655">
                  <a:extLst>
                    <a:ext uri="{9D8B030D-6E8A-4147-A177-3AD203B41FA5}">
                      <a16:colId xmlns:a16="http://schemas.microsoft.com/office/drawing/2014/main" val="716459052"/>
                    </a:ext>
                  </a:extLst>
                </a:gridCol>
                <a:gridCol w="622955">
                  <a:extLst>
                    <a:ext uri="{9D8B030D-6E8A-4147-A177-3AD203B41FA5}">
                      <a16:colId xmlns:a16="http://schemas.microsoft.com/office/drawing/2014/main" val="2541840237"/>
                    </a:ext>
                  </a:extLst>
                </a:gridCol>
                <a:gridCol w="779061">
                  <a:extLst>
                    <a:ext uri="{9D8B030D-6E8A-4147-A177-3AD203B41FA5}">
                      <a16:colId xmlns:a16="http://schemas.microsoft.com/office/drawing/2014/main" val="4012147089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666595016"/>
                    </a:ext>
                  </a:extLst>
                </a:gridCol>
                <a:gridCol w="1056543">
                  <a:extLst>
                    <a:ext uri="{9D8B030D-6E8A-4147-A177-3AD203B41FA5}">
                      <a16:colId xmlns:a16="http://schemas.microsoft.com/office/drawing/2014/main" val="2535446066"/>
                    </a:ext>
                  </a:extLst>
                </a:gridCol>
                <a:gridCol w="1421573">
                  <a:extLst>
                    <a:ext uri="{9D8B030D-6E8A-4147-A177-3AD203B41FA5}">
                      <a16:colId xmlns:a16="http://schemas.microsoft.com/office/drawing/2014/main" val="1936708370"/>
                    </a:ext>
                  </a:extLst>
                </a:gridCol>
                <a:gridCol w="1073655">
                  <a:extLst>
                    <a:ext uri="{9D8B030D-6E8A-4147-A177-3AD203B41FA5}">
                      <a16:colId xmlns:a16="http://schemas.microsoft.com/office/drawing/2014/main" val="1669058867"/>
                    </a:ext>
                  </a:extLst>
                </a:gridCol>
              </a:tblGrid>
              <a:tr h="643823">
                <a:tc>
                  <a:txBody>
                    <a:bodyPr/>
                    <a:lstStyle/>
                    <a:p>
                      <a:pPr marL="5715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250" marR="0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 dirty="0">
                          <a:effectLst/>
                        </a:rPr>
                        <a:t>Peak</a:t>
                      </a:r>
                      <a:r>
                        <a:rPr lang="en-US" sz="1600" spc="-115" dirty="0">
                          <a:effectLst/>
                        </a:rPr>
                        <a:t> </a:t>
                      </a:r>
                      <a:r>
                        <a:rPr lang="en-US" sz="1600" spc="-20" dirty="0">
                          <a:effectLst/>
                        </a:rPr>
                        <a:t>Name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1587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</a:rPr>
                        <a:t>RT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</a:rPr>
                        <a:t>Area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1935" marR="0" indent="-57785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60">
                          <a:effectLst/>
                        </a:rPr>
                        <a:t>Purity1 </a:t>
                      </a:r>
                      <a:r>
                        <a:rPr lang="en-US" sz="1600" spc="-10">
                          <a:effectLst/>
                        </a:rPr>
                        <a:t>Angle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885" marR="0" indent="170180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</a:rPr>
                        <a:t>Purity1 </a:t>
                      </a:r>
                      <a:r>
                        <a:rPr lang="en-US" sz="1600" spc="-50" dirty="0">
                          <a:effectLst/>
                        </a:rPr>
                        <a:t>Threshold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81280" algn="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>
                          <a:effectLst/>
                        </a:rPr>
                        <a:t>USP</a:t>
                      </a:r>
                      <a:r>
                        <a:rPr lang="en-US" sz="1600" spc="-280">
                          <a:effectLst/>
                        </a:rPr>
                        <a:t> </a:t>
                      </a:r>
                      <a:r>
                        <a:rPr lang="en-US" sz="1600" spc="-100">
                          <a:effectLst/>
                        </a:rPr>
                        <a:t>Plate</a:t>
                      </a:r>
                      <a:r>
                        <a:rPr lang="en-US" sz="1600" spc="-45">
                          <a:effectLst/>
                        </a:rPr>
                        <a:t> </a:t>
                      </a:r>
                      <a:r>
                        <a:rPr lang="en-US" sz="1600" spc="-100">
                          <a:effectLst/>
                        </a:rPr>
                        <a:t>Count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70485" algn="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10">
                          <a:effectLst/>
                        </a:rPr>
                        <a:t>USP</a:t>
                      </a:r>
                      <a:r>
                        <a:rPr lang="en-US" sz="1600" spc="-275">
                          <a:effectLst/>
                        </a:rPr>
                        <a:t> </a:t>
                      </a:r>
                      <a:r>
                        <a:rPr lang="en-US" sz="1600" spc="-10">
                          <a:effectLst/>
                        </a:rPr>
                        <a:t>Tailing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18842376"/>
                  </a:ext>
                </a:extLst>
              </a:tr>
              <a:tr h="350244">
                <a:tc>
                  <a:txBody>
                    <a:bodyPr/>
                    <a:lstStyle/>
                    <a:p>
                      <a:pPr marL="95250" marR="0"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600" spc="-5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 marR="0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Tepotinib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30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2.428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 marR="50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935281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115" marR="0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0.208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1500" marR="0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0.271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75565" algn="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</a:rPr>
                        <a:t>3404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68580" algn="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</a:rPr>
                        <a:t>1.4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31342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88822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121D5-9EB0-E9E8-42CF-0AE077C4D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40962"/>
            <a:ext cx="7886700" cy="6261315"/>
          </a:xfrm>
        </p:spPr>
        <p:txBody>
          <a:bodyPr/>
          <a:lstStyle/>
          <a:p>
            <a:pPr marL="376238" marR="0" indent="-376238" algn="just">
              <a:lnSpc>
                <a:spcPts val="13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kern="0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Water </a:t>
            </a:r>
            <a:r>
              <a:rPr lang="en-US" sz="1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Degradation</a:t>
            </a:r>
            <a:r>
              <a:rPr lang="en-US" sz="1800" b="1" kern="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kern="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Studies</a:t>
            </a:r>
            <a:endParaRPr lang="en-US" sz="1800" b="1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732155" indent="0" algn="just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Stress testing under neutral conditions was studied by refluxing the drug in water for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6hr s at a temperature of 60ºc. For HPLC study, the resultant solution was diluted 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(45 ppm) solution and 10 µL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 injected into the system and the chromatograms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recorded</a:t>
            </a:r>
            <a:r>
              <a:rPr lang="en-US" sz="1800" spc="-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assess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2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stability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sample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574CE4-34E1-04E6-356A-6CDAEC01A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782435"/>
              </p:ext>
            </p:extLst>
          </p:nvPr>
        </p:nvGraphicFramePr>
        <p:xfrm>
          <a:off x="628650" y="5171272"/>
          <a:ext cx="7321980" cy="99406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265042">
                  <a:extLst>
                    <a:ext uri="{9D8B030D-6E8A-4147-A177-3AD203B41FA5}">
                      <a16:colId xmlns:a16="http://schemas.microsoft.com/office/drawing/2014/main" val="2053212417"/>
                    </a:ext>
                  </a:extLst>
                </a:gridCol>
                <a:gridCol w="1099249">
                  <a:extLst>
                    <a:ext uri="{9D8B030D-6E8A-4147-A177-3AD203B41FA5}">
                      <a16:colId xmlns:a16="http://schemas.microsoft.com/office/drawing/2014/main" val="294527512"/>
                    </a:ext>
                  </a:extLst>
                </a:gridCol>
                <a:gridCol w="637805">
                  <a:extLst>
                    <a:ext uri="{9D8B030D-6E8A-4147-A177-3AD203B41FA5}">
                      <a16:colId xmlns:a16="http://schemas.microsoft.com/office/drawing/2014/main" val="1304782144"/>
                    </a:ext>
                  </a:extLst>
                </a:gridCol>
                <a:gridCol w="797632">
                  <a:extLst>
                    <a:ext uri="{9D8B030D-6E8A-4147-A177-3AD203B41FA5}">
                      <a16:colId xmlns:a16="http://schemas.microsoft.com/office/drawing/2014/main" val="1440691534"/>
                    </a:ext>
                  </a:extLst>
                </a:gridCol>
                <a:gridCol w="885812">
                  <a:extLst>
                    <a:ext uri="{9D8B030D-6E8A-4147-A177-3AD203B41FA5}">
                      <a16:colId xmlns:a16="http://schemas.microsoft.com/office/drawing/2014/main" val="1950380365"/>
                    </a:ext>
                  </a:extLst>
                </a:gridCol>
                <a:gridCol w="1094718">
                  <a:extLst>
                    <a:ext uri="{9D8B030D-6E8A-4147-A177-3AD203B41FA5}">
                      <a16:colId xmlns:a16="http://schemas.microsoft.com/office/drawing/2014/main" val="2753633589"/>
                    </a:ext>
                  </a:extLst>
                </a:gridCol>
                <a:gridCol w="1442473">
                  <a:extLst>
                    <a:ext uri="{9D8B030D-6E8A-4147-A177-3AD203B41FA5}">
                      <a16:colId xmlns:a16="http://schemas.microsoft.com/office/drawing/2014/main" val="3219825592"/>
                    </a:ext>
                  </a:extLst>
                </a:gridCol>
                <a:gridCol w="1099249">
                  <a:extLst>
                    <a:ext uri="{9D8B030D-6E8A-4147-A177-3AD203B41FA5}">
                      <a16:colId xmlns:a16="http://schemas.microsoft.com/office/drawing/2014/main" val="1438216430"/>
                    </a:ext>
                  </a:extLst>
                </a:gridCol>
              </a:tblGrid>
              <a:tr h="643823">
                <a:tc>
                  <a:txBody>
                    <a:bodyPr/>
                    <a:lstStyle/>
                    <a:p>
                      <a:pPr marL="5715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25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>
                          <a:effectLst/>
                        </a:rPr>
                        <a:t>Peak</a:t>
                      </a:r>
                      <a:r>
                        <a:rPr lang="en-US" sz="1600" spc="-115">
                          <a:effectLst/>
                        </a:rPr>
                        <a:t> </a:t>
                      </a:r>
                      <a:r>
                        <a:rPr lang="en-US" sz="1600" spc="-20">
                          <a:effectLst/>
                        </a:rPr>
                        <a:t>Name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1587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</a:rPr>
                        <a:t>RT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5400" marR="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</a:rPr>
                        <a:t>Area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41935" marR="0" indent="-57785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60">
                          <a:effectLst/>
                        </a:rPr>
                        <a:t>Purity1 </a:t>
                      </a:r>
                      <a:r>
                        <a:rPr lang="en-US" sz="1600" spc="-10">
                          <a:effectLst/>
                        </a:rPr>
                        <a:t>Angle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5885" marR="0" indent="170180" algn="ctr">
                        <a:lnSpc>
                          <a:spcPct val="107000"/>
                        </a:lnSpc>
                        <a:spcBef>
                          <a:spcPts val="41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Purity1 </a:t>
                      </a:r>
                      <a:r>
                        <a:rPr lang="en-US" sz="1600" spc="-50">
                          <a:effectLst/>
                        </a:rPr>
                        <a:t>Threshold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81280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0" dirty="0">
                          <a:effectLst/>
                        </a:rPr>
                        <a:t>USP</a:t>
                      </a:r>
                      <a:r>
                        <a:rPr lang="en-US" sz="1600" spc="-280" dirty="0">
                          <a:effectLst/>
                        </a:rPr>
                        <a:t> </a:t>
                      </a:r>
                      <a:r>
                        <a:rPr lang="en-US" sz="1600" spc="-100" dirty="0">
                          <a:effectLst/>
                        </a:rPr>
                        <a:t>Plate</a:t>
                      </a:r>
                      <a:r>
                        <a:rPr lang="en-US" sz="1600" spc="-45" dirty="0">
                          <a:effectLst/>
                        </a:rPr>
                        <a:t> </a:t>
                      </a:r>
                      <a:r>
                        <a:rPr lang="en-US" sz="1600" spc="-100" dirty="0">
                          <a:effectLst/>
                        </a:rPr>
                        <a:t>Count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0485" algn="ctr">
                        <a:spcBef>
                          <a:spcPts val="1655"/>
                        </a:spcBef>
                        <a:spcAft>
                          <a:spcPts val="0"/>
                        </a:spcAft>
                      </a:pPr>
                      <a:r>
                        <a:rPr lang="en-US" sz="1600" spc="-110" dirty="0">
                          <a:effectLst/>
                        </a:rPr>
                        <a:t>USP</a:t>
                      </a:r>
                      <a:r>
                        <a:rPr lang="en-US" sz="1600" spc="-275" dirty="0">
                          <a:effectLst/>
                        </a:rPr>
                        <a:t> </a:t>
                      </a:r>
                      <a:r>
                        <a:rPr lang="en-US" sz="1600" spc="-10" dirty="0">
                          <a:effectLst/>
                        </a:rPr>
                        <a:t>Tailing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6549763"/>
                  </a:ext>
                </a:extLst>
              </a:tr>
              <a:tr h="350244">
                <a:tc>
                  <a:txBody>
                    <a:bodyPr/>
                    <a:lstStyle/>
                    <a:p>
                      <a:pPr marL="95250" marR="0" algn="ctr"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600" spc="-5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9715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Tepotinib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730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2.427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5400" marR="50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942138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12115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0.206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571500" marR="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</a:rPr>
                        <a:t>0.281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75565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0">
                          <a:effectLst/>
                        </a:rPr>
                        <a:t>3421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68580" algn="ctr">
                        <a:spcBef>
                          <a:spcPts val="19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</a:rPr>
                        <a:t>1.4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Arial M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57133186"/>
                  </a:ext>
                </a:extLst>
              </a:tr>
            </a:tbl>
          </a:graphicData>
        </a:graphic>
      </p:graphicFrame>
      <p:pic>
        <p:nvPicPr>
          <p:cNvPr id="6" name="image89.png">
            <a:extLst>
              <a:ext uri="{FF2B5EF4-FFF2-40B4-BE49-F238E27FC236}">
                <a16:creationId xmlns:a16="http://schemas.microsoft.com/office/drawing/2014/main" id="{24256C66-9EDF-3E41-BE60-94838292411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8650" y="2218526"/>
            <a:ext cx="7120503" cy="277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000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088C3B-9308-1FFB-A226-FC5B9FA16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231454"/>
              </p:ext>
            </p:extLst>
          </p:nvPr>
        </p:nvGraphicFramePr>
        <p:xfrm>
          <a:off x="1983782" y="1332854"/>
          <a:ext cx="5005953" cy="468048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{22838BEF-8BB2-4498-84A7-C5851F593DF1}</a:tableStyleId>
              </a:tblPr>
              <a:tblGrid>
                <a:gridCol w="876256">
                  <a:extLst>
                    <a:ext uri="{9D8B030D-6E8A-4147-A177-3AD203B41FA5}">
                      <a16:colId xmlns:a16="http://schemas.microsoft.com/office/drawing/2014/main" val="2073650390"/>
                    </a:ext>
                  </a:extLst>
                </a:gridCol>
                <a:gridCol w="1553129">
                  <a:extLst>
                    <a:ext uri="{9D8B030D-6E8A-4147-A177-3AD203B41FA5}">
                      <a16:colId xmlns:a16="http://schemas.microsoft.com/office/drawing/2014/main" val="331261577"/>
                    </a:ext>
                  </a:extLst>
                </a:gridCol>
                <a:gridCol w="1267319">
                  <a:extLst>
                    <a:ext uri="{9D8B030D-6E8A-4147-A177-3AD203B41FA5}">
                      <a16:colId xmlns:a16="http://schemas.microsoft.com/office/drawing/2014/main" val="3816049766"/>
                    </a:ext>
                  </a:extLst>
                </a:gridCol>
                <a:gridCol w="1309249">
                  <a:extLst>
                    <a:ext uri="{9D8B030D-6E8A-4147-A177-3AD203B41FA5}">
                      <a16:colId xmlns:a16="http://schemas.microsoft.com/office/drawing/2014/main" val="521789282"/>
                    </a:ext>
                  </a:extLst>
                </a:gridCol>
              </a:tblGrid>
              <a:tr h="797081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258445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Degradation</a:t>
                      </a:r>
                      <a:r>
                        <a:rPr lang="en-US" sz="1800" spc="-28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60960" algn="ctr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943610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%Drug Un</a:t>
                      </a:r>
                      <a:r>
                        <a:rPr lang="en-US" sz="1800" spc="-285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Degraded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6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800735" algn="l"/>
                        </a:tabLs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%Drug</a:t>
                      </a:r>
                    </a:p>
                    <a:p>
                      <a:pPr marL="69215" marR="0" algn="ctr">
                        <a:lnSpc>
                          <a:spcPts val="1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Degraded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76068808"/>
                  </a:ext>
                </a:extLst>
              </a:tr>
              <a:tr h="690875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Acid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91.98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07294407"/>
                  </a:ext>
                </a:extLst>
              </a:tr>
              <a:tr h="636193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Alkali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94.08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72554723"/>
                  </a:ext>
                </a:extLst>
              </a:tr>
              <a:tr h="640399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Oxidation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96.60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2858904"/>
                  </a:ext>
                </a:extLst>
              </a:tr>
              <a:tr h="640399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Thermal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98.40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1.60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06232061"/>
                  </a:ext>
                </a:extLst>
              </a:tr>
              <a:tr h="640399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98.73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7112126"/>
                  </a:ext>
                </a:extLst>
              </a:tr>
              <a:tr h="635142"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99.45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2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3239545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AD5B1F-BA1D-C70D-7FAE-B82748CDBDDE}"/>
              </a:ext>
            </a:extLst>
          </p:cNvPr>
          <p:cNvSpPr txBox="1"/>
          <p:nvPr/>
        </p:nvSpPr>
        <p:spPr>
          <a:xfrm>
            <a:off x="2905932" y="65999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Degradation</a:t>
            </a:r>
            <a:r>
              <a:rPr lang="en-US" sz="1800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</a:t>
            </a:r>
            <a:r>
              <a:rPr lang="en-US" sz="18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Tepotinib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366560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7AC63C-FE89-E2A5-09A5-70BE8C5743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721903"/>
              </p:ext>
            </p:extLst>
          </p:nvPr>
        </p:nvGraphicFramePr>
        <p:xfrm>
          <a:off x="387459" y="526942"/>
          <a:ext cx="8446576" cy="602884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{7DF18680-E054-41AD-8BC1-D1AEF772440D}</a:tableStyleId>
              </a:tblPr>
              <a:tblGrid>
                <a:gridCol w="1873941">
                  <a:extLst>
                    <a:ext uri="{9D8B030D-6E8A-4147-A177-3AD203B41FA5}">
                      <a16:colId xmlns:a16="http://schemas.microsoft.com/office/drawing/2014/main" val="2146608570"/>
                    </a:ext>
                  </a:extLst>
                </a:gridCol>
                <a:gridCol w="1998524">
                  <a:extLst>
                    <a:ext uri="{9D8B030D-6E8A-4147-A177-3AD203B41FA5}">
                      <a16:colId xmlns:a16="http://schemas.microsoft.com/office/drawing/2014/main" val="2994372074"/>
                    </a:ext>
                  </a:extLst>
                </a:gridCol>
                <a:gridCol w="1998524">
                  <a:extLst>
                    <a:ext uri="{9D8B030D-6E8A-4147-A177-3AD203B41FA5}">
                      <a16:colId xmlns:a16="http://schemas.microsoft.com/office/drawing/2014/main" val="2646557452"/>
                    </a:ext>
                  </a:extLst>
                </a:gridCol>
                <a:gridCol w="2575587">
                  <a:extLst>
                    <a:ext uri="{9D8B030D-6E8A-4147-A177-3AD203B41FA5}">
                      <a16:colId xmlns:a16="http://schemas.microsoft.com/office/drawing/2014/main" val="5829343"/>
                    </a:ext>
                  </a:extLst>
                </a:gridCol>
              </a:tblGrid>
              <a:tr h="274898">
                <a:tc gridSpan="2">
                  <a:txBody>
                    <a:bodyPr/>
                    <a:lstStyle/>
                    <a:p>
                      <a:pPr marL="33782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Parameters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Tepotinib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Limit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46661945"/>
                  </a:ext>
                </a:extLst>
              </a:tr>
              <a:tr h="332273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Linearity: Range</a:t>
                      </a:r>
                      <a:r>
                        <a:rPr lang="en-US" sz="1200" spc="27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(µg/mL)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11.25-67µg/mL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300990" marR="0" algn="ctr">
                        <a:lnSpc>
                          <a:spcPts val="1340"/>
                        </a:lnSpc>
                        <a:spcBef>
                          <a:spcPts val="99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R&lt; 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91486631"/>
                  </a:ext>
                </a:extLst>
              </a:tr>
              <a:tr h="322816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Regression</a:t>
                      </a:r>
                      <a:r>
                        <a:rPr lang="en-US" sz="1200" spc="-5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coefficient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0.999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106554"/>
                  </a:ext>
                </a:extLst>
              </a:tr>
              <a:tr h="325969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Slope(m)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19912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405275"/>
                  </a:ext>
                </a:extLst>
              </a:tr>
              <a:tr h="294443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Intercept(c)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12377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864200"/>
                  </a:ext>
                </a:extLst>
              </a:tr>
              <a:tr h="344253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Regression</a:t>
                      </a:r>
                      <a:r>
                        <a:rPr lang="en-US" sz="1200" spc="-3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equation</a:t>
                      </a:r>
                      <a:r>
                        <a:rPr lang="en-US" sz="1200" spc="-3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(Y= mx+c)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=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19912x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+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12377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494673"/>
                  </a:ext>
                </a:extLst>
              </a:tr>
              <a:tr h="322816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Assay (%</a:t>
                      </a:r>
                      <a:r>
                        <a:rPr lang="en-US" sz="1200" spc="-3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mean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assay)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100.15%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2479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90-110%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8049168"/>
                  </a:ext>
                </a:extLst>
              </a:tr>
              <a:tr h="334165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Specificity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Specific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r>
                        <a:rPr lang="en-US" sz="1200" spc="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interference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of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any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peak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949356"/>
                  </a:ext>
                </a:extLst>
              </a:tr>
              <a:tr h="317141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System</a:t>
                      </a:r>
                      <a:r>
                        <a:rPr lang="en-US" sz="1200" spc="-3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precision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%RSD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922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NMT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2.0%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3735217"/>
                  </a:ext>
                </a:extLst>
              </a:tr>
              <a:tr h="322816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Method</a:t>
                      </a:r>
                      <a:r>
                        <a:rPr lang="en-US" sz="1200" spc="-3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precision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%RSD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0922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NMT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2.0%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80986701"/>
                  </a:ext>
                </a:extLst>
              </a:tr>
              <a:tr h="305793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r>
                        <a:rPr lang="en-US" sz="1200" spc="-3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%recovery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100.25%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8542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98-102%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88899868"/>
                  </a:ext>
                </a:extLst>
              </a:tr>
              <a:tr h="305793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0.21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NMT</a:t>
                      </a:r>
                      <a:r>
                        <a:rPr lang="en-US" sz="1200" spc="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6112479"/>
                  </a:ext>
                </a:extLst>
              </a:tr>
              <a:tr h="334165">
                <a:tc gridSpan="2"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LOQ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0.63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859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NMT</a:t>
                      </a:r>
                      <a:r>
                        <a:rPr lang="en-US" sz="1200" spc="1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10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78042546"/>
                  </a:ext>
                </a:extLst>
              </a:tr>
              <a:tr h="334165"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ts val="1340"/>
                        </a:lnSpc>
                        <a:spcBef>
                          <a:spcPts val="5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69850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Robustness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rowSpan="6">
                  <a:txBody>
                    <a:bodyPr/>
                    <a:lstStyle/>
                    <a:p>
                      <a:pPr marL="0" marR="0" algn="ctr">
                        <a:lnSpc>
                          <a:spcPts val="134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n-US" sz="1150">
                          <a:effectLst/>
                        </a:rPr>
                        <a:t> </a:t>
                      </a:r>
                      <a:endParaRPr lang="en-US" sz="1100">
                        <a:effectLst/>
                      </a:endParaRPr>
                    </a:p>
                    <a:p>
                      <a:pPr marL="109220" marR="0" algn="ctr">
                        <a:lnSpc>
                          <a:spcPts val="13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252220" algn="l"/>
                        </a:tabLst>
                      </a:pPr>
                      <a:r>
                        <a:rPr lang="en-US" sz="1200">
                          <a:effectLst/>
                        </a:rPr>
                        <a:t>%RSD</a:t>
                      </a:r>
                      <a:r>
                        <a:rPr lang="en-US" sz="1200" spc="-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NMT 2.0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58915498"/>
                  </a:ext>
                </a:extLst>
              </a:tr>
              <a:tr h="3341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299510"/>
                  </a:ext>
                </a:extLst>
              </a:tr>
              <a:tr h="2944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97979"/>
                  </a:ext>
                </a:extLst>
              </a:tr>
              <a:tr h="3057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1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51112"/>
                  </a:ext>
                </a:extLst>
              </a:tr>
              <a:tr h="3057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69215" marR="0" algn="ctr">
                        <a:lnSpc>
                          <a:spcPts val="134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0.3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014279"/>
                  </a:ext>
                </a:extLst>
              </a:tr>
              <a:tr h="3171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9850" marR="0" algn="ctr">
                        <a:lnSpc>
                          <a:spcPts val="136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TP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2540" marR="0" algn="ctr">
                        <a:lnSpc>
                          <a:spcPts val="11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0.4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1759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E905598-D3C0-BD31-D6C3-D6C0C20938D2}"/>
              </a:ext>
            </a:extLst>
          </p:cNvPr>
          <p:cNvSpPr txBox="1"/>
          <p:nvPr/>
        </p:nvSpPr>
        <p:spPr>
          <a:xfrm>
            <a:off x="2704454" y="15761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SUMMARY</a:t>
            </a:r>
            <a:r>
              <a:rPr lang="en-US" sz="1800" b="1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b="1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CONCLUSION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69870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607</TotalTime>
  <Words>2663</Words>
  <Application>Microsoft Office PowerPoint</Application>
  <PresentationFormat>On-screen Show (4:3)</PresentationFormat>
  <Paragraphs>626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MT</vt:lpstr>
      <vt:lpstr>Calibri</vt:lpstr>
      <vt:lpstr>Calibri Light</vt:lpstr>
      <vt:lpstr>Symbol</vt:lpstr>
      <vt:lpstr>Times New Roman</vt:lpstr>
      <vt:lpstr>Wingdings</vt:lpstr>
      <vt:lpstr>Office Theme</vt:lpstr>
      <vt:lpstr>DEVELOPMENT AND VALIDATION OF ROBUST RP-HPLC METHOD FOR QUANTITATIVE ANALYSIS OF TEPOTINIB IN PHARMACEUTICAL FORMULATIONS: A QUALITY BY DESIGN APPROACH</vt:lpstr>
      <vt:lpstr>INTRODUCTION</vt:lpstr>
      <vt:lpstr>AIM AND OBJECTIVES</vt:lpstr>
      <vt:lpstr>DRUG PROFILE</vt:lpstr>
      <vt:lpstr>  MATERIALS AND METHODS </vt:lpstr>
      <vt:lpstr>PowerPoint Presentation</vt:lpstr>
      <vt:lpstr>PowerPoint Presentation</vt:lpstr>
      <vt:lpstr>QUALITY BY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CHROMATOGRAPHIC CONDITIONS </vt:lpstr>
      <vt:lpstr>PowerPoint Presentation</vt:lpstr>
      <vt:lpstr>PowerPoint Presentation</vt:lpstr>
      <vt:lpstr>PowerPoint Presentation</vt:lpstr>
      <vt:lpstr>RESULT AND DISCUSSION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AND VALIDATION OF ROBUST RP-HPLC METHOD FOR QUANTITATIVE ANALYSIS OF TEPOTINIB IN PHARMACEUTICAL FORMULATIONS: A QUALITY BY DESIGN APPROACH</dc:title>
  <dc:creator>Senthil Raj</dc:creator>
  <cp:lastModifiedBy>Senthil Raj</cp:lastModifiedBy>
  <cp:revision>11</cp:revision>
  <dcterms:created xsi:type="dcterms:W3CDTF">2023-12-23T17:14:22Z</dcterms:created>
  <dcterms:modified xsi:type="dcterms:W3CDTF">2023-12-29T09:35:27Z</dcterms:modified>
</cp:coreProperties>
</file>